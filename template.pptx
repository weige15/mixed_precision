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7" r:id="rId1"/>
  </p:sldMasterIdLst>
  <p:notesMasterIdLst>
    <p:notesMasterId r:id="rId5"/>
  </p:notesMasterIdLst>
  <p:sldIdLst>
    <p:sldId id="256" r:id="rId2"/>
    <p:sldId id="257" r:id="rId3"/>
    <p:sldId id="258" r:id="rId4"/>
  </p:sldIdLst>
  <p:sldSz cx="14630400" cy="8229600"/>
  <p:notesSz cx="8229600" cy="14630400"/>
  <p:embeddedFontLst>
    <p:embeddedFont>
      <p:font typeface="PT Serif" panose="020A0603040505020204" pitchFamily="18" charset="0"/>
      <p:regular r:id="rId6"/>
      <p:bold r:id="rId7"/>
      <p:italic r:id="rId8"/>
      <p:boldItalic r:id="rId9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56" d="100"/>
          <a:sy n="56" d="100"/>
        </p:scale>
        <p:origin x="996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3.fntdata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font" Target="fonts/font2.fntdata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1.fntdata"/><Relationship Id="rId11" Type="http://schemas.openxmlformats.org/officeDocument/2006/relationships/viewProps" Target="viewProps.xml"/><Relationship Id="rId5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font" Target="fonts/font4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/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/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/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/>
              <a:t>‹#›</a:t>
            </a:fld>
            <a:endParaRPr sz="1200" b="0" i="0" u="none" strike="noStrike" cap="none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g3d1ecbdc3be_0_0:notes"/>
          <p:cNvSpPr txBox="1">
            <a:spLocks noGrp="1"/>
          </p:cNvSpPr>
          <p:nvPr>
            <p:ph type="body" idx="1"/>
          </p:nvPr>
        </p:nvSpPr>
        <p:spPr>
          <a:xfrm>
            <a:off x="822960" y="7040880"/>
            <a:ext cx="6583800" cy="57609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1" name="Google Shape;101;g3d1ecbdc3be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-273050" y="1828800"/>
            <a:ext cx="8775700" cy="493712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d1ecbdc3be_0_116:notes"/>
          <p:cNvSpPr txBox="1">
            <a:spLocks noGrp="1"/>
          </p:cNvSpPr>
          <p:nvPr>
            <p:ph type="body" idx="1"/>
          </p:nvPr>
        </p:nvSpPr>
        <p:spPr>
          <a:xfrm>
            <a:off x="822960" y="7040880"/>
            <a:ext cx="6583800" cy="57609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AutoNum type="arabicPeriod"/>
            </a:pPr>
            <a:r>
              <a:rPr lang="en-US" sz="1100" b="1">
                <a:latin typeface="Arial"/>
                <a:ea typeface="Arial"/>
                <a:cs typeface="Arial"/>
                <a:sym typeface="Arial"/>
              </a:rPr>
              <a:t>Introduction</a:t>
            </a:r>
            <a:r>
              <a:rPr lang="en-US" sz="1100">
                <a:latin typeface="Arial"/>
                <a:ea typeface="Arial"/>
                <a:cs typeface="Arial"/>
                <a:sym typeface="Arial"/>
              </a:rPr>
              <a:t>：介紹目前量化面臨的挑戰 。</a:t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AutoNum type="arabicPeriod"/>
            </a:pPr>
            <a:r>
              <a:rPr lang="en-US" sz="1100" b="1">
                <a:latin typeface="Arial"/>
                <a:ea typeface="Arial"/>
                <a:cs typeface="Arial"/>
                <a:sym typeface="Arial"/>
              </a:rPr>
              <a:t>How ResQ Works</a:t>
            </a:r>
            <a:r>
              <a:rPr lang="en-US" sz="1100">
                <a:latin typeface="Arial"/>
                <a:ea typeface="Arial"/>
                <a:cs typeface="Arial"/>
                <a:sym typeface="Arial"/>
              </a:rPr>
              <a:t>：探討 ResQ 的原理 。</a:t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AutoNum type="arabicPeriod"/>
            </a:pPr>
            <a:r>
              <a:rPr lang="en-US" sz="1100" b="1">
                <a:latin typeface="Arial"/>
                <a:ea typeface="Arial"/>
                <a:cs typeface="Arial"/>
                <a:sym typeface="Arial"/>
              </a:rPr>
              <a:t>Benchmark</a:t>
            </a:r>
            <a:r>
              <a:rPr lang="en-US" sz="1100">
                <a:latin typeface="Arial"/>
                <a:ea typeface="Arial"/>
                <a:cs typeface="Arial"/>
                <a:sym typeface="Arial"/>
              </a:rPr>
              <a:t>：展示在不同模型上的效能 。</a:t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AutoNum type="arabicPeriod"/>
            </a:pPr>
            <a:r>
              <a:rPr lang="en-US" sz="1100" b="1">
                <a:latin typeface="Arial"/>
                <a:ea typeface="Arial"/>
                <a:cs typeface="Arial"/>
                <a:sym typeface="Arial"/>
              </a:rPr>
              <a:t>Ablation Study</a:t>
            </a:r>
            <a:r>
              <a:rPr lang="en-US" sz="1100">
                <a:latin typeface="Arial"/>
                <a:ea typeface="Arial"/>
                <a:cs typeface="Arial"/>
                <a:sym typeface="Arial"/>
              </a:rPr>
              <a:t>：分析各個矩陣(UA, UB…)的貢獻 。</a:t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AutoNum type="arabicPeriod"/>
            </a:pPr>
            <a:r>
              <a:rPr lang="en-US" sz="1100" b="1">
                <a:latin typeface="Arial"/>
                <a:ea typeface="Arial"/>
                <a:cs typeface="Arial"/>
                <a:sym typeface="Arial"/>
              </a:rPr>
              <a:t>Conclusion</a:t>
            </a:r>
            <a:r>
              <a:rPr lang="en-US" sz="1100">
                <a:latin typeface="Arial"/>
                <a:ea typeface="Arial"/>
                <a:cs typeface="Arial"/>
                <a:sym typeface="Arial"/>
              </a:rPr>
              <a:t>：總結本研究的核心價值 。</a:t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8" name="Google Shape;108;g3d1ecbdc3be_0_1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-273050" y="1828800"/>
            <a:ext cx="8775700" cy="493712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g3d1ecbdc3be_0_232:notes"/>
          <p:cNvSpPr txBox="1">
            <a:spLocks noGrp="1"/>
          </p:cNvSpPr>
          <p:nvPr>
            <p:ph type="body" idx="1"/>
          </p:nvPr>
        </p:nvSpPr>
        <p:spPr>
          <a:xfrm>
            <a:off x="822960" y="7040880"/>
            <a:ext cx="6583800" cy="57609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100">
                <a:latin typeface="Arial"/>
                <a:ea typeface="Arial"/>
                <a:cs typeface="Arial"/>
                <a:sym typeface="Arial"/>
              </a:rPr>
              <a:t>將 LLM 量化至 4-bit 是極具挑戰性的 。LLM 推論包含兩個階段：</a:t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US" sz="1100" b="1">
                <a:latin typeface="Arial"/>
                <a:ea typeface="Arial"/>
                <a:cs typeface="Arial"/>
                <a:sym typeface="Arial"/>
              </a:rPr>
              <a:t>Prefilling</a:t>
            </a:r>
            <a:r>
              <a:rPr lang="en-US" sz="1100">
                <a:latin typeface="Arial"/>
                <a:ea typeface="Arial"/>
                <a:cs typeface="Arial"/>
                <a:sym typeface="Arial"/>
              </a:rPr>
              <a:t>：受限於計算量（Compute-bound），需要處理數兆次的浮點運算 。</a:t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US" sz="1100" b="1">
                <a:latin typeface="Arial"/>
                <a:ea typeface="Arial"/>
                <a:cs typeface="Arial"/>
                <a:sym typeface="Arial"/>
              </a:rPr>
              <a:t>Generation</a:t>
            </a:r>
            <a:r>
              <a:rPr lang="en-US" sz="1100">
                <a:latin typeface="Arial"/>
                <a:ea typeface="Arial"/>
                <a:cs typeface="Arial"/>
                <a:sym typeface="Arial"/>
              </a:rPr>
              <a:t>：受限於記憶體頻寬（Memory-bound），需反覆讀取 KV cache 。 而最核心的問題在於</a:t>
            </a:r>
            <a:r>
              <a:rPr lang="en-US" sz="1100" b="1">
                <a:latin typeface="Arial"/>
                <a:ea typeface="Arial"/>
                <a:cs typeface="Arial"/>
                <a:sym typeface="Arial"/>
              </a:rPr>
              <a:t>激活值中的離群點（Outliers）</a:t>
            </a:r>
            <a:r>
              <a:rPr lang="en-US" sz="1100">
                <a:latin typeface="Arial"/>
                <a:ea typeface="Arial"/>
                <a:cs typeface="Arial"/>
                <a:sym typeface="Arial"/>
              </a:rPr>
              <a:t>，它們通常比一般值大 20 倍，使得低位元量化變得異常困難 。</a:t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5" name="Google Shape;115;g3d1ecbdc3be_0_2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-273050" y="1828800"/>
            <a:ext cx="8775700" cy="493712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1 master">
  <p:cSld name="Slide 1 master">
    <p:spTree>
      <p:nvGrpSpPr>
        <p:cNvPr id="1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11;p2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" name="Google Shape;12;p2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2 master">
  <p:cSld name="Slide 2 mast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" name="Google Shape;15;p3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3 master">
  <p:cSld name="Slide 3 master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" name="Google Shape;18;p4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4 master">
  <p:cSld name="Slide 4 master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5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" name="Google Shape;21;p5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5 master">
  <p:cSld name="Slide 5 master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6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" name="Google Shape;24;p6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6 master">
  <p:cSld name="Slide 6 master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7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" name="Google Shape;27;p7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7 master">
  <p:cSld name="Slide 7 master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8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" name="Google Shape;30;p8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8 master">
  <p:cSld name="Slide 8 master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9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" name="Google Shape;33;p9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9 master">
  <p:cSld name="Slide 9 master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1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" name="Google Shape;36;p1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10 master">
  <p:cSld name="Slide 10 master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1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1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11 master">
  <p:cSld name="Slide 11 master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2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" name="Google Shape;42;p12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12 master">
  <p:cSld name="Slide 12 master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3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" name="Google Shape;45;p13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13 master">
  <p:cSld name="Slide 13 master"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14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48;p14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14 master">
  <p:cSld name="Slide 14 master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5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" name="Google Shape;51;p15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15 master">
  <p:cSld name="Slide 15 master"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16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" name="Google Shape;54;p16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>
  <p:cSld name="DEFAULT">
    <p:bg>
      <p:bgPr>
        <a:solidFill>
          <a:schemeClr val="lt1"/>
        </a:solidFill>
        <a:effectLst/>
      </p:bgPr>
    </p:bg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" type="title">
  <p:cSld name="TITLE"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8"/>
          <p:cNvSpPr/>
          <p:nvPr/>
        </p:nvSpPr>
        <p:spPr>
          <a:xfrm>
            <a:off x="0" y="6625883"/>
            <a:ext cx="14630400" cy="1603800"/>
          </a:xfrm>
          <a:prstGeom prst="rect">
            <a:avLst/>
          </a:prstGeom>
          <a:solidFill>
            <a:srgbClr val="052E6E"/>
          </a:solidFill>
          <a:ln w="1525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09700" tIns="54850" rIns="109700" bIns="5485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2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" name="Google Shape;58;p18"/>
          <p:cNvSpPr/>
          <p:nvPr/>
        </p:nvSpPr>
        <p:spPr>
          <a:xfrm>
            <a:off x="12627499" y="6777787"/>
            <a:ext cx="2202600" cy="7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9700" tIns="54850" rIns="109700" bIns="5485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NYCU</a:t>
            </a:r>
            <a:endParaRPr sz="4200" b="1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59" name="Google Shape;59;p18"/>
          <p:cNvCxnSpPr/>
          <p:nvPr/>
        </p:nvCxnSpPr>
        <p:spPr>
          <a:xfrm>
            <a:off x="1828800" y="4040945"/>
            <a:ext cx="10972800" cy="0"/>
          </a:xfrm>
          <a:prstGeom prst="straightConnector1">
            <a:avLst/>
          </a:prstGeom>
          <a:noFill/>
          <a:ln w="68575" cap="flat" cmpd="sng">
            <a:solidFill>
              <a:srgbClr val="5B9BD5"/>
            </a:solidFill>
            <a:prstDash val="lgDash"/>
            <a:round/>
            <a:headEnd type="none" w="sm" len="sm"/>
            <a:tailEnd type="none" w="sm" len="sm"/>
          </a:ln>
        </p:spPr>
      </p:cxnSp>
      <p:sp>
        <p:nvSpPr>
          <p:cNvPr id="60" name="Google Shape;60;p18"/>
          <p:cNvSpPr txBox="1">
            <a:spLocks noGrp="1"/>
          </p:cNvSpPr>
          <p:nvPr>
            <p:ph type="ctrTitle"/>
          </p:nvPr>
        </p:nvSpPr>
        <p:spPr>
          <a:xfrm>
            <a:off x="1828800" y="712052"/>
            <a:ext cx="10972800" cy="279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9700" tIns="54850" rIns="109700" bIns="5485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00"/>
              <a:buFont typeface="Calibri"/>
              <a:buChar char="●"/>
              <a:defRPr sz="5400"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endParaRPr/>
          </a:p>
        </p:txBody>
      </p:sp>
      <p:sp>
        <p:nvSpPr>
          <p:cNvPr id="61" name="Google Shape;61;p18"/>
          <p:cNvSpPr txBox="1">
            <a:spLocks noGrp="1"/>
          </p:cNvSpPr>
          <p:nvPr>
            <p:ph type="subTitle" idx="1"/>
          </p:nvPr>
        </p:nvSpPr>
        <p:spPr>
          <a:xfrm>
            <a:off x="1828800" y="4845577"/>
            <a:ext cx="10972800" cy="159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9700" tIns="54850" rIns="109700" bIns="54850" anchor="t" anchorCtr="0">
            <a:normAutofit/>
          </a:bodyPr>
          <a:lstStyle>
            <a:lvl1pPr lv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900"/>
              <a:buNone/>
              <a:defRPr sz="2900">
                <a:latin typeface="Calibri"/>
                <a:ea typeface="Calibri"/>
                <a:cs typeface="Calibri"/>
                <a:sym typeface="Calibri"/>
              </a:defRPr>
            </a:lvl1pPr>
            <a:lvl2pPr lvl="1" algn="ctr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2pPr>
            <a:lvl3pPr lvl="2" algn="ctr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200"/>
              <a:buNone/>
              <a:defRPr sz="2200"/>
            </a:lvl3pPr>
            <a:lvl4pPr lvl="3" algn="ctr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900"/>
              <a:buNone/>
              <a:defRPr sz="1900"/>
            </a:lvl4pPr>
            <a:lvl5pPr lvl="4" algn="ctr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900"/>
              <a:buNone/>
              <a:defRPr sz="1900"/>
            </a:lvl5pPr>
            <a:lvl6pPr lvl="5" algn="ctr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900"/>
              <a:buNone/>
              <a:defRPr sz="1900"/>
            </a:lvl6pPr>
            <a:lvl7pPr lvl="6" algn="ctr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900"/>
              <a:buNone/>
              <a:defRPr sz="1900"/>
            </a:lvl7pPr>
            <a:lvl8pPr lvl="7" algn="ctr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900"/>
              <a:buNone/>
              <a:defRPr sz="1900"/>
            </a:lvl8pPr>
            <a:lvl9pPr lvl="8" algn="ctr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900"/>
              <a:buNone/>
              <a:defRPr sz="1900"/>
            </a:lvl9pPr>
          </a:lstStyle>
          <a:p>
            <a:endParaRPr/>
          </a:p>
        </p:txBody>
      </p:sp>
      <p:sp>
        <p:nvSpPr>
          <p:cNvPr id="62" name="Google Shape;62;p18"/>
          <p:cNvSpPr txBox="1">
            <a:spLocks noGrp="1"/>
          </p:cNvSpPr>
          <p:nvPr>
            <p:ph type="dt" idx="10"/>
          </p:nvPr>
        </p:nvSpPr>
        <p:spPr>
          <a:xfrm>
            <a:off x="1005840" y="7627620"/>
            <a:ext cx="3291900" cy="43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9700" tIns="54850" rIns="109700" bIns="5485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1pPr>
            <a:lvl2pPr lvl="1" algn="l"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 algn="l"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 algn="l"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 algn="l"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 algn="l"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 algn="l"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 algn="l"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 algn="l"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endParaRPr/>
          </a:p>
        </p:txBody>
      </p:sp>
      <p:sp>
        <p:nvSpPr>
          <p:cNvPr id="63" name="Google Shape;63;p18"/>
          <p:cNvSpPr txBox="1">
            <a:spLocks noGrp="1"/>
          </p:cNvSpPr>
          <p:nvPr>
            <p:ph type="ftr" idx="11"/>
          </p:nvPr>
        </p:nvSpPr>
        <p:spPr>
          <a:xfrm>
            <a:off x="4846320" y="7627620"/>
            <a:ext cx="4937700" cy="43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9700" tIns="54850" rIns="109700" bIns="548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1pPr>
            <a:lvl2pPr lvl="1" algn="l"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 algn="l"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 algn="l"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 algn="l"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 algn="l"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 algn="l"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 algn="l"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 algn="l"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endParaRPr/>
          </a:p>
        </p:txBody>
      </p:sp>
      <p:sp>
        <p:nvSpPr>
          <p:cNvPr id="64" name="Google Shape;64;p18"/>
          <p:cNvSpPr txBox="1">
            <a:spLocks noGrp="1"/>
          </p:cNvSpPr>
          <p:nvPr>
            <p:ph type="sldNum" idx="12"/>
          </p:nvPr>
        </p:nvSpPr>
        <p:spPr>
          <a:xfrm>
            <a:off x="11167264" y="7627544"/>
            <a:ext cx="3291900" cy="43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9700" tIns="54850" rIns="109700" bIns="5485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lvl="1" indent="0" algn="r">
              <a:spcBef>
                <a:spcPts val="0"/>
              </a:spcBef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lvl="2" indent="0" algn="r">
              <a:spcBef>
                <a:spcPts val="0"/>
              </a:spcBef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lvl="3" indent="0" algn="r">
              <a:spcBef>
                <a:spcPts val="0"/>
              </a:spcBef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lvl="4" indent="0" algn="r">
              <a:spcBef>
                <a:spcPts val="0"/>
              </a:spcBef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lvl="5" indent="0" algn="r">
              <a:spcBef>
                <a:spcPts val="0"/>
              </a:spcBef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lvl="6" indent="0" algn="r">
              <a:spcBef>
                <a:spcPts val="0"/>
              </a:spcBef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lvl="7" indent="0" algn="r">
              <a:spcBef>
                <a:spcPts val="0"/>
              </a:spcBef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lvl="8" indent="0" algn="r">
              <a:spcBef>
                <a:spcPts val="0"/>
              </a:spcBef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65" name="Google Shape;65;p18"/>
          <p:cNvGrpSpPr/>
          <p:nvPr/>
        </p:nvGrpSpPr>
        <p:grpSpPr>
          <a:xfrm>
            <a:off x="12816184" y="163830"/>
            <a:ext cx="1825200" cy="1576685"/>
            <a:chOff x="10680153" y="136525"/>
            <a:chExt cx="1521000" cy="1313904"/>
          </a:xfrm>
        </p:grpSpPr>
        <p:pic>
          <p:nvPicPr>
            <p:cNvPr id="66" name="Google Shape;66;p18"/>
            <p:cNvPicPr preferRelativeResize="0"/>
            <p:nvPr/>
          </p:nvPicPr>
          <p:blipFill rotWithShape="1">
            <a:blip r:embed="rId2">
              <a:alphaModFix/>
            </a:blip>
            <a:srcRect/>
            <a:stretch/>
          </p:blipFill>
          <p:spPr>
            <a:xfrm>
              <a:off x="10832124" y="136525"/>
              <a:ext cx="1217128" cy="913705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67" name="Google Shape;67;p18"/>
            <p:cNvSpPr/>
            <p:nvPr/>
          </p:nvSpPr>
          <p:spPr>
            <a:xfrm>
              <a:off x="10680153" y="1050229"/>
              <a:ext cx="1521000" cy="400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9700" tIns="54850" rIns="109700" bIns="5485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 b="0" i="0" u="none" strike="noStrike" cap="none">
                  <a:solidFill>
                    <a:srgbClr val="052E6E"/>
                  </a:solidFill>
                  <a:latin typeface="Calibri"/>
                  <a:ea typeface="Calibri"/>
                  <a:cs typeface="Calibri"/>
                  <a:sym typeface="Calibri"/>
                </a:rPr>
                <a:t>BASIC LAB</a:t>
              </a:r>
              <a:endParaRPr sz="2400" b="0" i="0" u="none" strike="noStrike" cap="none">
                <a:solidFill>
                  <a:srgbClr val="052E6E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68" name="Google Shape;68;p18"/>
          <p:cNvSpPr/>
          <p:nvPr/>
        </p:nvSpPr>
        <p:spPr>
          <a:xfrm>
            <a:off x="11242102" y="3534383"/>
            <a:ext cx="1044300" cy="1044300"/>
          </a:xfrm>
          <a:prstGeom prst="ellipse">
            <a:avLst/>
          </a:prstGeom>
          <a:solidFill>
            <a:srgbClr val="F0DF88"/>
          </a:solidFill>
          <a:ln>
            <a:noFill/>
          </a:ln>
        </p:spPr>
        <p:txBody>
          <a:bodyPr spcFirstLastPara="1" wrap="square" lIns="109700" tIns="54850" rIns="109700" bIns="5485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2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" name="Google Shape;69;p18"/>
          <p:cNvSpPr/>
          <p:nvPr/>
        </p:nvSpPr>
        <p:spPr>
          <a:xfrm>
            <a:off x="14151502" y="7686821"/>
            <a:ext cx="319800" cy="3198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109700" tIns="54850" rIns="109700" bIns="5485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" type="obj">
  <p:cSld name="OBJECT"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1" name="Google Shape;71;p19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5371702"/>
            <a:ext cx="2857898" cy="2857898"/>
          </a:xfrm>
          <a:prstGeom prst="rect">
            <a:avLst/>
          </a:prstGeom>
          <a:noFill/>
          <a:ln>
            <a:noFill/>
          </a:ln>
        </p:spPr>
      </p:pic>
      <p:sp>
        <p:nvSpPr>
          <p:cNvPr id="72" name="Google Shape;72;p19"/>
          <p:cNvSpPr/>
          <p:nvPr/>
        </p:nvSpPr>
        <p:spPr>
          <a:xfrm>
            <a:off x="10332720" y="0"/>
            <a:ext cx="4297800" cy="8229600"/>
          </a:xfrm>
          <a:prstGeom prst="rect">
            <a:avLst/>
          </a:prstGeom>
          <a:solidFill>
            <a:srgbClr val="052E6E"/>
          </a:solidFill>
          <a:ln>
            <a:noFill/>
          </a:ln>
        </p:spPr>
        <p:txBody>
          <a:bodyPr spcFirstLastPara="1" wrap="square" lIns="109700" tIns="54850" rIns="109700" bIns="5485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2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" name="Google Shape;73;p19"/>
          <p:cNvSpPr/>
          <p:nvPr/>
        </p:nvSpPr>
        <p:spPr>
          <a:xfrm>
            <a:off x="10278907" y="7308256"/>
            <a:ext cx="2202600" cy="7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9700" tIns="54850" rIns="109700" bIns="5485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NYCU</a:t>
            </a:r>
            <a:endParaRPr sz="42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" name="Google Shape;74;p19"/>
          <p:cNvSpPr txBox="1">
            <a:spLocks noGrp="1"/>
          </p:cNvSpPr>
          <p:nvPr>
            <p:ph type="title"/>
          </p:nvPr>
        </p:nvSpPr>
        <p:spPr>
          <a:xfrm>
            <a:off x="1005840" y="438150"/>
            <a:ext cx="8778300" cy="159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9700" tIns="54850" rIns="109700" bIns="5485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00"/>
              <a:buFont typeface="Calibri"/>
              <a:buChar char="●"/>
              <a:defRPr sz="5400"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endParaRPr/>
          </a:p>
        </p:txBody>
      </p:sp>
      <p:sp>
        <p:nvSpPr>
          <p:cNvPr id="75" name="Google Shape;75;p19"/>
          <p:cNvSpPr txBox="1">
            <a:spLocks noGrp="1"/>
          </p:cNvSpPr>
          <p:nvPr>
            <p:ph type="body" idx="1"/>
          </p:nvPr>
        </p:nvSpPr>
        <p:spPr>
          <a:xfrm>
            <a:off x="1005840" y="2774852"/>
            <a:ext cx="8778300" cy="463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9700" tIns="54850" rIns="109700" bIns="54850" anchor="t" anchorCtr="0">
            <a:normAutofit/>
          </a:bodyPr>
          <a:lstStyle>
            <a:lvl1pPr marL="457200" lvl="0" indent="-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Char char="•"/>
              <a:defRPr sz="3600"/>
            </a:lvl1pPr>
            <a:lvl2pPr marL="914400" lvl="1" indent="-3683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200"/>
              <a:buChar char="○"/>
              <a:defRPr sz="1700"/>
            </a:lvl2pPr>
            <a:lvl3pPr marL="1371600" lvl="2" indent="-3683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200"/>
              <a:buChar char="■"/>
              <a:defRPr sz="1700"/>
            </a:lvl3pPr>
            <a:lvl4pPr marL="1828800" lvl="3" indent="-3683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200"/>
              <a:buChar char="●"/>
              <a:defRPr sz="1700"/>
            </a:lvl4pPr>
            <a:lvl5pPr marL="2286000" lvl="4" indent="-3683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200"/>
              <a:buChar char="○"/>
              <a:defRPr sz="1700"/>
            </a:lvl5pPr>
            <a:lvl6pPr marL="2743200" lvl="5" indent="-3683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200"/>
              <a:buChar char="■"/>
              <a:defRPr sz="1700"/>
            </a:lvl6pPr>
            <a:lvl7pPr marL="3200400" lvl="6" indent="-3683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200"/>
              <a:buChar char="●"/>
              <a:defRPr sz="1700"/>
            </a:lvl7pPr>
            <a:lvl8pPr marL="3657600" lvl="7" indent="-3683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200"/>
              <a:buChar char="○"/>
              <a:defRPr sz="1700"/>
            </a:lvl8pPr>
            <a:lvl9pPr marL="4114800" lvl="8" indent="-3683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200"/>
              <a:buChar char="■"/>
              <a:defRPr sz="1700"/>
            </a:lvl9pPr>
          </a:lstStyle>
          <a:p>
            <a:endParaRPr/>
          </a:p>
        </p:txBody>
      </p:sp>
      <p:sp>
        <p:nvSpPr>
          <p:cNvPr id="76" name="Google Shape;76;p19"/>
          <p:cNvSpPr txBox="1">
            <a:spLocks noGrp="1"/>
          </p:cNvSpPr>
          <p:nvPr>
            <p:ph type="dt" idx="10"/>
          </p:nvPr>
        </p:nvSpPr>
        <p:spPr>
          <a:xfrm>
            <a:off x="1005840" y="7627620"/>
            <a:ext cx="3291900" cy="43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9700" tIns="54850" rIns="109700" bIns="5485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1pPr>
            <a:lvl2pPr lvl="1" algn="l"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 algn="l"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 algn="l"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 algn="l"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 algn="l"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 algn="l"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 algn="l"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 algn="l"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endParaRPr/>
          </a:p>
        </p:txBody>
      </p:sp>
      <p:sp>
        <p:nvSpPr>
          <p:cNvPr id="77" name="Google Shape;77;p19"/>
          <p:cNvSpPr txBox="1">
            <a:spLocks noGrp="1"/>
          </p:cNvSpPr>
          <p:nvPr>
            <p:ph type="ftr" idx="11"/>
          </p:nvPr>
        </p:nvSpPr>
        <p:spPr>
          <a:xfrm>
            <a:off x="4846320" y="7627620"/>
            <a:ext cx="4937700" cy="43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9700" tIns="54850" rIns="109700" bIns="548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1pPr>
            <a:lvl2pPr lvl="1" algn="l"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 algn="l"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 algn="l"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 algn="l"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 algn="l"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 algn="l"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 algn="l"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 algn="l"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endParaRPr/>
          </a:p>
        </p:txBody>
      </p:sp>
      <p:sp>
        <p:nvSpPr>
          <p:cNvPr id="78" name="Google Shape;78;p19"/>
          <p:cNvSpPr txBox="1">
            <a:spLocks noGrp="1"/>
          </p:cNvSpPr>
          <p:nvPr>
            <p:ph type="sldNum" idx="12"/>
          </p:nvPr>
        </p:nvSpPr>
        <p:spPr>
          <a:xfrm>
            <a:off x="11170264" y="7627546"/>
            <a:ext cx="3291900" cy="43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9700" tIns="54850" rIns="109700" bIns="5485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lvl="1" indent="0" algn="r">
              <a:spcBef>
                <a:spcPts val="0"/>
              </a:spcBef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lvl="2" indent="0" algn="r">
              <a:spcBef>
                <a:spcPts val="0"/>
              </a:spcBef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lvl="3" indent="0" algn="r">
              <a:spcBef>
                <a:spcPts val="0"/>
              </a:spcBef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lvl="4" indent="0" algn="r">
              <a:spcBef>
                <a:spcPts val="0"/>
              </a:spcBef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lvl="5" indent="0" algn="r">
              <a:spcBef>
                <a:spcPts val="0"/>
              </a:spcBef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lvl="6" indent="0" algn="r">
              <a:spcBef>
                <a:spcPts val="0"/>
              </a:spcBef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lvl="7" indent="0" algn="r">
              <a:spcBef>
                <a:spcPts val="0"/>
              </a:spcBef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lvl="8" indent="0" algn="r">
              <a:spcBef>
                <a:spcPts val="0"/>
              </a:spcBef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79" name="Google Shape;79;p19"/>
          <p:cNvGrpSpPr/>
          <p:nvPr/>
        </p:nvGrpSpPr>
        <p:grpSpPr>
          <a:xfrm>
            <a:off x="12816184" y="163830"/>
            <a:ext cx="1825200" cy="1576685"/>
            <a:chOff x="10680153" y="136525"/>
            <a:chExt cx="1521000" cy="1313904"/>
          </a:xfrm>
        </p:grpSpPr>
        <p:pic>
          <p:nvPicPr>
            <p:cNvPr id="80" name="Google Shape;80;p19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10832124" y="136525"/>
              <a:ext cx="1217128" cy="913703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81" name="Google Shape;81;p19"/>
            <p:cNvSpPr/>
            <p:nvPr/>
          </p:nvSpPr>
          <p:spPr>
            <a:xfrm>
              <a:off x="10680153" y="1050229"/>
              <a:ext cx="1521000" cy="400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9700" tIns="54850" rIns="109700" bIns="5485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 b="0" i="0" u="none" strike="noStrike" cap="non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BASIC LAB</a:t>
              </a:r>
              <a:endParaRPr sz="24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cxnSp>
        <p:nvCxnSpPr>
          <p:cNvPr id="82" name="Google Shape;82;p19"/>
          <p:cNvCxnSpPr/>
          <p:nvPr/>
        </p:nvCxnSpPr>
        <p:spPr>
          <a:xfrm>
            <a:off x="1005840" y="2267536"/>
            <a:ext cx="5725500" cy="0"/>
          </a:xfrm>
          <a:prstGeom prst="straightConnector1">
            <a:avLst/>
          </a:prstGeom>
          <a:noFill/>
          <a:ln w="68575" cap="flat" cmpd="sng">
            <a:solidFill>
              <a:schemeClr val="accent5"/>
            </a:solidFill>
            <a:prstDash val="lgDash"/>
            <a:round/>
            <a:headEnd type="none" w="sm" len="sm"/>
            <a:tailEnd type="none" w="sm" len="sm"/>
          </a:ln>
        </p:spPr>
      </p:cxnSp>
      <p:sp>
        <p:nvSpPr>
          <p:cNvPr id="83" name="Google Shape;83;p19"/>
          <p:cNvSpPr/>
          <p:nvPr/>
        </p:nvSpPr>
        <p:spPr>
          <a:xfrm>
            <a:off x="14151502" y="7686821"/>
            <a:ext cx="319800" cy="3198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109700" tIns="54850" rIns="109700" bIns="5485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" type="titleOnly">
  <p:cSld name="3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5" name="Google Shape;85;p20"/>
          <p:cNvGrpSpPr/>
          <p:nvPr/>
        </p:nvGrpSpPr>
        <p:grpSpPr>
          <a:xfrm>
            <a:off x="11772502" y="2567376"/>
            <a:ext cx="2857898" cy="5662224"/>
            <a:chOff x="9810418" y="2139480"/>
            <a:chExt cx="2381582" cy="4718520"/>
          </a:xfrm>
        </p:grpSpPr>
        <p:pic>
          <p:nvPicPr>
            <p:cNvPr id="86" name="Google Shape;86;p20"/>
            <p:cNvPicPr preferRelativeResize="0"/>
            <p:nvPr/>
          </p:nvPicPr>
          <p:blipFill rotWithShape="1">
            <a:blip r:embed="rId2">
              <a:alphaModFix/>
            </a:blip>
            <a:srcRect/>
            <a:stretch/>
          </p:blipFill>
          <p:spPr>
            <a:xfrm rot="10800000">
              <a:off x="9810418" y="4476418"/>
              <a:ext cx="2381582" cy="2381582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87" name="Google Shape;87;p20"/>
            <p:cNvPicPr preferRelativeResize="0"/>
            <p:nvPr/>
          </p:nvPicPr>
          <p:blipFill rotWithShape="1">
            <a:blip r:embed="rId2">
              <a:alphaModFix/>
            </a:blip>
            <a:srcRect/>
            <a:stretch/>
          </p:blipFill>
          <p:spPr>
            <a:xfrm rot="-5400000">
              <a:off x="9810418" y="2139480"/>
              <a:ext cx="2381582" cy="2381582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88" name="Google Shape;88;p20"/>
          <p:cNvSpPr/>
          <p:nvPr/>
        </p:nvSpPr>
        <p:spPr>
          <a:xfrm>
            <a:off x="0" y="0"/>
            <a:ext cx="730800" cy="8303400"/>
          </a:xfrm>
          <a:prstGeom prst="rect">
            <a:avLst/>
          </a:prstGeom>
          <a:solidFill>
            <a:srgbClr val="052E6E"/>
          </a:solidFill>
          <a:ln>
            <a:noFill/>
          </a:ln>
        </p:spPr>
        <p:txBody>
          <a:bodyPr spcFirstLastPara="1" wrap="square" lIns="109700" tIns="54850" rIns="109700" bIns="5485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2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" name="Google Shape;89;p20"/>
          <p:cNvSpPr/>
          <p:nvPr/>
        </p:nvSpPr>
        <p:spPr>
          <a:xfrm rot="2452991">
            <a:off x="12187960" y="6698831"/>
            <a:ext cx="2202647" cy="757132"/>
          </a:xfrm>
          <a:prstGeom prst="rect">
            <a:avLst/>
          </a:prstGeom>
        </p:spPr>
        <p:txBody>
          <a:bodyPr>
            <a:prstTxWarp prst="textPlain">
              <a:avLst/>
            </a:prstTxWarp>
          </a:bodyPr>
          <a:lstStyle/>
          <a:p>
            <a:pPr lvl="0" algn="ctr"/>
            <a:r>
              <a:rPr b="0" i="0">
                <a:ln>
                  <a:noFill/>
                </a:ln>
                <a:solidFill>
                  <a:srgbClr val="052E6E"/>
                </a:solidFill>
                <a:latin typeface="Calibri"/>
              </a:rPr>
              <a:t>NYCU</a:t>
            </a:r>
          </a:p>
        </p:txBody>
      </p:sp>
      <p:cxnSp>
        <p:nvCxnSpPr>
          <p:cNvPr id="90" name="Google Shape;90;p20"/>
          <p:cNvCxnSpPr/>
          <p:nvPr/>
        </p:nvCxnSpPr>
        <p:spPr>
          <a:xfrm>
            <a:off x="10171458" y="2028826"/>
            <a:ext cx="4470000" cy="0"/>
          </a:xfrm>
          <a:prstGeom prst="straightConnector1">
            <a:avLst/>
          </a:prstGeom>
          <a:noFill/>
          <a:ln w="68575" cap="flat" cmpd="sng">
            <a:solidFill>
              <a:schemeClr val="accent5"/>
            </a:solidFill>
            <a:prstDash val="lgDash"/>
            <a:round/>
            <a:headEnd type="none" w="sm" len="sm"/>
            <a:tailEnd type="none" w="sm" len="sm"/>
          </a:ln>
        </p:spPr>
      </p:cxnSp>
      <p:sp>
        <p:nvSpPr>
          <p:cNvPr id="91" name="Google Shape;91;p20"/>
          <p:cNvSpPr txBox="1">
            <a:spLocks noGrp="1"/>
          </p:cNvSpPr>
          <p:nvPr>
            <p:ph type="title"/>
          </p:nvPr>
        </p:nvSpPr>
        <p:spPr>
          <a:xfrm>
            <a:off x="1005840" y="438150"/>
            <a:ext cx="11707800" cy="159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9700" tIns="54850" rIns="109700" bIns="5485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00"/>
              <a:buFont typeface="Calibri"/>
              <a:buChar char="●"/>
              <a:defRPr sz="5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endParaRPr/>
          </a:p>
        </p:txBody>
      </p:sp>
      <p:sp>
        <p:nvSpPr>
          <p:cNvPr id="92" name="Google Shape;92;p20"/>
          <p:cNvSpPr txBox="1">
            <a:spLocks noGrp="1"/>
          </p:cNvSpPr>
          <p:nvPr>
            <p:ph type="dt" idx="10"/>
          </p:nvPr>
        </p:nvSpPr>
        <p:spPr>
          <a:xfrm>
            <a:off x="1005840" y="7627620"/>
            <a:ext cx="3291900" cy="43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9700" tIns="54850" rIns="109700" bIns="5485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1pPr>
            <a:lvl2pPr lvl="1" algn="l"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 algn="l"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 algn="l"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 algn="l"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 algn="l"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 algn="l"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 algn="l"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 algn="l"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endParaRPr/>
          </a:p>
        </p:txBody>
      </p:sp>
      <p:sp>
        <p:nvSpPr>
          <p:cNvPr id="93" name="Google Shape;93;p20"/>
          <p:cNvSpPr txBox="1">
            <a:spLocks noGrp="1"/>
          </p:cNvSpPr>
          <p:nvPr>
            <p:ph type="ftr" idx="11"/>
          </p:nvPr>
        </p:nvSpPr>
        <p:spPr>
          <a:xfrm>
            <a:off x="4846320" y="7627620"/>
            <a:ext cx="4937700" cy="43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9700" tIns="54850" rIns="109700" bIns="548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1pPr>
            <a:lvl2pPr lvl="1" algn="l"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 algn="l"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 algn="l"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 algn="l"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 algn="l"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 algn="l"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 algn="l"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 algn="l"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endParaRPr/>
          </a:p>
        </p:txBody>
      </p:sp>
      <p:sp>
        <p:nvSpPr>
          <p:cNvPr id="94" name="Google Shape;94;p20"/>
          <p:cNvSpPr txBox="1">
            <a:spLocks noGrp="1"/>
          </p:cNvSpPr>
          <p:nvPr>
            <p:ph type="sldNum" idx="12"/>
          </p:nvPr>
        </p:nvSpPr>
        <p:spPr>
          <a:xfrm>
            <a:off x="11170264" y="7627620"/>
            <a:ext cx="3291900" cy="43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9700" tIns="54850" rIns="109700" bIns="5485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lvl="1" indent="0" algn="r">
              <a:spcBef>
                <a:spcPts val="0"/>
              </a:spcBef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lvl="2" indent="0" algn="r">
              <a:spcBef>
                <a:spcPts val="0"/>
              </a:spcBef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lvl="3" indent="0" algn="r">
              <a:spcBef>
                <a:spcPts val="0"/>
              </a:spcBef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lvl="4" indent="0" algn="r">
              <a:spcBef>
                <a:spcPts val="0"/>
              </a:spcBef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lvl="5" indent="0" algn="r">
              <a:spcBef>
                <a:spcPts val="0"/>
              </a:spcBef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lvl="6" indent="0" algn="r">
              <a:spcBef>
                <a:spcPts val="0"/>
              </a:spcBef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lvl="7" indent="0" algn="r">
              <a:spcBef>
                <a:spcPts val="0"/>
              </a:spcBef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lvl="8" indent="0" algn="r">
              <a:spcBef>
                <a:spcPts val="0"/>
              </a:spcBef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95" name="Google Shape;95;p20"/>
          <p:cNvGrpSpPr/>
          <p:nvPr/>
        </p:nvGrpSpPr>
        <p:grpSpPr>
          <a:xfrm>
            <a:off x="12816184" y="163830"/>
            <a:ext cx="1825200" cy="1576685"/>
            <a:chOff x="10680153" y="136525"/>
            <a:chExt cx="1521000" cy="1313904"/>
          </a:xfrm>
        </p:grpSpPr>
        <p:pic>
          <p:nvPicPr>
            <p:cNvPr id="96" name="Google Shape;96;p20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10832124" y="136525"/>
              <a:ext cx="1217128" cy="913705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97" name="Google Shape;97;p20"/>
            <p:cNvSpPr/>
            <p:nvPr/>
          </p:nvSpPr>
          <p:spPr>
            <a:xfrm>
              <a:off x="10680153" y="1050229"/>
              <a:ext cx="1521000" cy="400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9700" tIns="54850" rIns="109700" bIns="5485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 b="0" i="0" u="none" strike="noStrike" cap="none">
                  <a:solidFill>
                    <a:srgbClr val="052E6E"/>
                  </a:solidFill>
                  <a:latin typeface="Calibri"/>
                  <a:ea typeface="Calibri"/>
                  <a:cs typeface="Calibri"/>
                  <a:sym typeface="Calibri"/>
                </a:rPr>
                <a:t>BASIC LAB</a:t>
              </a:r>
              <a:endParaRPr sz="2400" b="0" i="0" u="none" strike="noStrike" cap="none">
                <a:solidFill>
                  <a:srgbClr val="052E6E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98" name="Google Shape;98;p20"/>
          <p:cNvSpPr/>
          <p:nvPr/>
        </p:nvSpPr>
        <p:spPr>
          <a:xfrm>
            <a:off x="14151502" y="7686821"/>
            <a:ext cx="319800" cy="3198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109700" tIns="54850" rIns="109700" bIns="5485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6056844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8" r:id="rId19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8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21"/>
          <p:cNvSpPr txBox="1">
            <a:spLocks noGrp="1"/>
          </p:cNvSpPr>
          <p:nvPr>
            <p:ph type="ctrTitle"/>
          </p:nvPr>
        </p:nvSpPr>
        <p:spPr>
          <a:xfrm>
            <a:off x="1883125" y="1241677"/>
            <a:ext cx="10972800" cy="279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9700" tIns="54850" rIns="109700" bIns="54850" anchor="b" anchorCtr="0">
            <a:noAutofit/>
          </a:bodyPr>
          <a:lstStyle/>
          <a:p>
            <a:pPr marL="0" lvl="0" indent="0" algn="ctr" rtl="0">
              <a:lnSpc>
                <a:spcPct val="125806"/>
              </a:lnSpc>
              <a:spcBef>
                <a:spcPts val="0"/>
              </a:spcBef>
              <a:spcAft>
                <a:spcPts val="0"/>
              </a:spcAft>
              <a:buClr>
                <a:srgbClr val="020202"/>
              </a:buClr>
              <a:buSzPts val="4650"/>
              <a:buFont typeface="PT Serif"/>
              <a:buNone/>
            </a:pPr>
            <a:r>
              <a:rPr lang="en-US" altLang="zh-TW" sz="4650" dirty="0">
                <a:solidFill>
                  <a:srgbClr val="020202"/>
                </a:solidFill>
                <a:latin typeface="PT Serif"/>
                <a:ea typeface="PT Serif"/>
                <a:cs typeface="PT Serif"/>
                <a:sym typeface="PT Serif"/>
              </a:rPr>
              <a:t>[Title]</a:t>
            </a:r>
            <a:br>
              <a:rPr lang="en-US" sz="4650" dirty="0">
                <a:solidFill>
                  <a:srgbClr val="020202"/>
                </a:solidFill>
                <a:latin typeface="PT Serif"/>
                <a:ea typeface="PT Serif"/>
                <a:cs typeface="PT Serif"/>
                <a:sym typeface="PT Serif"/>
              </a:rPr>
            </a:br>
            <a:r>
              <a:rPr lang="en-US" sz="3200" dirty="0">
                <a:solidFill>
                  <a:srgbClr val="020202"/>
                </a:solidFill>
                <a:latin typeface="PT Serif"/>
                <a:ea typeface="PT Serif"/>
                <a:cs typeface="PT Serif"/>
                <a:sym typeface="PT Serif"/>
              </a:rPr>
              <a:t>[seminar]</a:t>
            </a:r>
            <a:endParaRPr sz="3200" dirty="0"/>
          </a:p>
        </p:txBody>
      </p:sp>
      <p:sp>
        <p:nvSpPr>
          <p:cNvPr id="104" name="Google Shape;104;p21"/>
          <p:cNvSpPr txBox="1">
            <a:spLocks noGrp="1"/>
          </p:cNvSpPr>
          <p:nvPr>
            <p:ph type="subTitle" idx="1"/>
          </p:nvPr>
        </p:nvSpPr>
        <p:spPr>
          <a:xfrm>
            <a:off x="1828800" y="4845577"/>
            <a:ext cx="10972800" cy="159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9700" tIns="54850" rIns="109700" bIns="54850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900"/>
              <a:buNone/>
            </a:pPr>
            <a:r>
              <a:rPr lang="en-US" dirty="0" err="1"/>
              <a:t>Presenter：郭子維</a:t>
            </a:r>
            <a:endParaRPr dirty="0"/>
          </a:p>
          <a:p>
            <a:pPr marL="0" lvl="0" indent="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900"/>
              <a:buNone/>
            </a:pPr>
            <a:endParaRPr lang="zh-TW" altLang="en-US" dirty="0"/>
          </a:p>
        </p:txBody>
      </p:sp>
      <p:sp>
        <p:nvSpPr>
          <p:cNvPr id="105" name="Google Shape;105;p21"/>
          <p:cNvSpPr txBox="1">
            <a:spLocks noGrp="1"/>
          </p:cNvSpPr>
          <p:nvPr>
            <p:ph type="sldNum" idx="12"/>
          </p:nvPr>
        </p:nvSpPr>
        <p:spPr>
          <a:xfrm>
            <a:off x="11167264" y="7627544"/>
            <a:ext cx="3291900" cy="43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9700" tIns="54850" rIns="109700" bIns="5485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</a:t>
            </a:fld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22"/>
          <p:cNvSpPr txBox="1">
            <a:spLocks noGrp="1"/>
          </p:cNvSpPr>
          <p:nvPr>
            <p:ph type="title"/>
          </p:nvPr>
        </p:nvSpPr>
        <p:spPr>
          <a:xfrm>
            <a:off x="1005840" y="438150"/>
            <a:ext cx="8778300" cy="159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9700" tIns="54850" rIns="109700" bIns="5485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00"/>
              <a:buFont typeface="Calibri"/>
              <a:buNone/>
            </a:pPr>
            <a:r>
              <a:rPr lang="en-US"/>
              <a:t>Outline</a:t>
            </a:r>
            <a:endParaRPr/>
          </a:p>
        </p:txBody>
      </p:sp>
      <p:sp>
        <p:nvSpPr>
          <p:cNvPr id="111" name="Google Shape;111;p22"/>
          <p:cNvSpPr txBox="1">
            <a:spLocks noGrp="1"/>
          </p:cNvSpPr>
          <p:nvPr>
            <p:ph type="body" idx="1"/>
          </p:nvPr>
        </p:nvSpPr>
        <p:spPr>
          <a:xfrm>
            <a:off x="1005840" y="2774852"/>
            <a:ext cx="8778300" cy="463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9700" tIns="54850" rIns="109700" bIns="54850" anchor="t" anchorCtr="0">
            <a:normAutofit/>
          </a:bodyPr>
          <a:lstStyle/>
          <a:p>
            <a:pPr marL="54610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 </a:t>
            </a:r>
            <a:endParaRPr dirty="0"/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12" name="Google Shape;112;p22"/>
          <p:cNvSpPr txBox="1">
            <a:spLocks noGrp="1"/>
          </p:cNvSpPr>
          <p:nvPr>
            <p:ph type="sldNum" idx="12"/>
          </p:nvPr>
        </p:nvSpPr>
        <p:spPr>
          <a:xfrm>
            <a:off x="11170264" y="7627546"/>
            <a:ext cx="3291900" cy="43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9700" tIns="54850" rIns="109700" bIns="5485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</a:t>
            </a:fld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23"/>
          <p:cNvSpPr txBox="1">
            <a:spLocks noGrp="1"/>
          </p:cNvSpPr>
          <p:nvPr>
            <p:ph type="sldNum" idx="12"/>
          </p:nvPr>
        </p:nvSpPr>
        <p:spPr>
          <a:xfrm>
            <a:off x="11170264" y="7627620"/>
            <a:ext cx="3291900" cy="43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9700" tIns="54850" rIns="109700" bIns="5485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3</a:t>
            </a:fld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23</TotalTime>
  <Words>83</Words>
  <Application>Microsoft Office PowerPoint</Application>
  <PresentationFormat>自訂</PresentationFormat>
  <Paragraphs>17</Paragraphs>
  <Slides>3</Slides>
  <Notes>3</Notes>
  <HiddenSlides>0</HiddenSlides>
  <MMClips>0</MMClips>
  <ScaleCrop>false</ScaleCrop>
  <HeadingPairs>
    <vt:vector size="6" baseType="variant">
      <vt:variant>
        <vt:lpstr>使用字型</vt:lpstr>
      </vt:variant>
      <vt:variant>
        <vt:i4>3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3</vt:i4>
      </vt:variant>
    </vt:vector>
  </HeadingPairs>
  <TitlesOfParts>
    <vt:vector size="7" baseType="lpstr">
      <vt:lpstr>PT Serif</vt:lpstr>
      <vt:lpstr>Arial</vt:lpstr>
      <vt:lpstr>Calibri</vt:lpstr>
      <vt:lpstr>Office Theme</vt:lpstr>
      <vt:lpstr>[Title] [seminar]</vt:lpstr>
      <vt:lpstr>Outline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郭子維</dc:creator>
  <cp:lastModifiedBy>郭子維</cp:lastModifiedBy>
  <cp:revision>2</cp:revision>
  <dcterms:modified xsi:type="dcterms:W3CDTF">2026-05-27T21:18:23Z</dcterms:modified>
</cp:coreProperties>
</file>