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5"/>
  </p:notesMasterIdLst>
  <p:sldIdLst>
    <p:sldId id="256" r:id="rId4"/>
    <p:sldId id="257" r:id="rId3"/>
    <p:sldId id="258" r:id="rId2"/>
    <p:sldId id="259" r:id="rId14"/>
  </p:sldIdLst>
  <p:sldSz cx="14630400" cy="8229600"/>
  <p:notesSz cx="8229600" cy="14630400"/>
  <p:embeddedFontLst>
    <p:embeddedFont>
      <p:font typeface="PT Serif" panose="020A0603040505020204" pitchFamily="18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625883"/>
            <a:ext cx="14630400" cy="1603800"/>
          </a:xfrm>
          <a:prstGeom prst="rect">
            <a:avLst/>
          </a:prstGeom>
          <a:solidFill>
            <a:srgbClr val="052E6E"/>
          </a:solidFill>
          <a:ln w="152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12627499" y="6777787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8"/>
          <p:cNvCxnSpPr/>
          <p:nvPr/>
        </p:nvCxnSpPr>
        <p:spPr>
          <a:xfrm>
            <a:off x="1828800" y="4040945"/>
            <a:ext cx="10972800" cy="0"/>
          </a:xfrm>
          <a:prstGeom prst="straightConnector1">
            <a:avLst/>
          </a:prstGeom>
          <a:noFill/>
          <a:ln w="68575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0" name="Google Shape;60;p18"/>
          <p:cNvSpPr txBox="1">
            <a:spLocks noGrp="1"/>
          </p:cNvSpPr>
          <p:nvPr>
            <p:ph type="ctrTitle"/>
          </p:nvPr>
        </p:nvSpPr>
        <p:spPr>
          <a:xfrm>
            <a:off x="1828800" y="712052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18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8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8"/>
          <p:cNvSpPr/>
          <p:nvPr/>
        </p:nvSpPr>
        <p:spPr>
          <a:xfrm>
            <a:off x="11242102" y="3534383"/>
            <a:ext cx="1044300" cy="104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71702"/>
            <a:ext cx="2857898" cy="28578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10332720" y="0"/>
            <a:ext cx="4297800" cy="82296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0278907" y="7308256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" name="Google Shape;79;p19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80" name="Google Shape;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9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9"/>
          <p:cNvCxnSpPr/>
          <p:nvPr/>
        </p:nvCxnSpPr>
        <p:spPr>
          <a:xfrm>
            <a:off x="1005840" y="2267536"/>
            <a:ext cx="57255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19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 type="titleOnly">
  <p:cSld name="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11772502" y="2567376"/>
            <a:ext cx="2857898" cy="5662224"/>
            <a:chOff x="9810418" y="2139480"/>
            <a:chExt cx="2381582" cy="4718520"/>
          </a:xfrm>
        </p:grpSpPr>
        <p:pic>
          <p:nvPicPr>
            <p:cNvPr id="86" name="Google Shape;86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>
              <a:off x="9810418" y="4476418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-5400000">
              <a:off x="9810418" y="2139480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0"/>
          <p:cNvSpPr/>
          <p:nvPr/>
        </p:nvSpPr>
        <p:spPr>
          <a:xfrm>
            <a:off x="0" y="0"/>
            <a:ext cx="730800" cy="83034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0"/>
          <p:cNvSpPr/>
          <p:nvPr/>
        </p:nvSpPr>
        <p:spPr>
          <a:xfrm rot="2452991">
            <a:off x="12187960" y="6698831"/>
            <a:ext cx="2202647" cy="75713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52E6E"/>
                </a:solidFill>
                <a:latin typeface="Calibri"/>
              </a:rPr>
              <a:t>NYCU</a:t>
            </a:r>
          </a:p>
        </p:txBody>
      </p:sp>
      <p:cxnSp>
        <p:nvCxnSpPr>
          <p:cNvPr id="90" name="Google Shape;90;p20"/>
          <p:cNvCxnSpPr/>
          <p:nvPr/>
        </p:nvCxnSpPr>
        <p:spPr>
          <a:xfrm>
            <a:off x="10171458" y="2028826"/>
            <a:ext cx="44700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1707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0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684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multi-precision deployment still behaves like multi-model 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Deployment pressure</a:t>
            </a:r>
          </a:p>
          <a:p>
            <a:pPr/>
          </a:p>
          <a:p>
            <a:pPr lvl="1"/>
            <a:r>
              <a:rPr>
                <a:latin typeface="Aptos"/>
              </a:rPr>
              <a:t>LLM decoding is often memory-bandwidth limited, so weight movement from HBM/SRAM becomes a major inference cost.</a:t>
            </a:r>
          </a:p>
          <a:p>
            <a:pPr lvl="1"/>
          </a:p>
          <a:p>
            <a:pPr lvl="1"/>
            <a:r>
              <a:rPr>
                <a:latin typeface="Aptos"/>
              </a:rPr>
              <a:t>Weight quantization reduces communication cost and makes int8, int4, and int2 attractive serving formats.</a:t>
            </a:r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Matryoshka Quantization targets the maintenance and quality gap created when each bit-width is optimized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idea: train one parent integer model whose MSBs are useful slices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Nest</a:t>
            </a:r>
          </a:p>
          <a:p>
            <a:pPr/>
          </a:p>
          <a:p>
            <a:pPr lvl="1"/>
            <a:r>
              <a:rPr>
                <a:latin typeface="Aptos"/>
              </a:rPr>
              <a:t>Start from a higher-precision integer representation, e.g. int8.</a:t>
            </a:r>
          </a:p>
          <a:p>
            <a:pPr lvl="1"/>
          </a:p>
          <a:p>
            <a:pPr lvl="1"/>
            <a:r>
              <a:rPr>
                <a:latin typeface="Aptos"/>
              </a:rPr>
              <a:t>Slice the most significant bits to obtain int4 or int2 without storing a separate model.</a:t>
            </a:r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MatQuant uses the natural nested structure of integer bit planes: lower precision models are extracted from the most significant bits of the same quantized weights.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Observation: co-training changes how quantization buckets are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Right-shifted buckets</a:t>
            </a:r>
          </a:p>
          <a:p>
            <a:pPr/>
          </a:p>
          <a:p>
            <a:pPr lvl="1"/>
            <a:r>
              <a:rPr>
                <a:latin typeface="Aptos"/>
              </a:rPr>
              <a:t>MatQuant shifts quantized weights toward higher-valued buckets.</a:t>
            </a:r>
          </a:p>
          <a:p>
            <a:pPr lvl="1"/>
          </a:p>
          <a:p>
            <a:pPr lvl="1"/>
            <a:r>
              <a:rPr>
                <a:latin typeface="Aptos"/>
              </a:rPr>
              <a:t>int8 and int4 have enough buckets that small shifts do not strongly hurt quality.</a:t>
            </a:r>
          </a:p>
          <a:p>
            <a:pPr lvl="1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The paper's main empirical observation is that MatQuant is not just truncating int8; training reshapes the quantized weight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takeaway: one checkpoint covers a denser accuracy-cost curve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MatQuant keeps high-bit quality near independently trained baselines while improving the lowest-bit slice, which is the hard case.</a:t>
            </a:r>
          </a:p>
          <a:p>
            <a:pPr lvl="1"/>
            <a:r>
              <a:rPr>
                <a:latin typeface="Aptos"/>
              </a:rPr>
              <a:t>Bottom line: MatQuant reframes multi-precision quantization from "train and serve many models" to "train one nested parent model and slice it at deployment time."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645920"/>
          <a:ext cx="11734495" cy="12344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66961"/>
                <a:gridCol w="4900099"/>
                <a:gridCol w="5067435"/>
              </a:tblGrid>
              <a:tr h="32004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Setting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Reported result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OmniQuant int8 / int4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Within about 0.5% of independently trained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Little penalty for sharing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OmniQuant int2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+1.04 / +3.11 / +3.01 task average on Gemma-2 2B / 9B / Mistral 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Low-cost auxiliary-parameter training still improves low-bit slices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QAT int2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+4.46 / +6.27 / +7.02 task average on the same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End-to-end learning gives larger gains when data quality is 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int6 / int3 slicing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Comparable to explicitly trained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Intermediate bit-widths can be obtained without extra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Mix'n'Match by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Dense accuracy-vs-bits trade-off from int2 / int4 / int8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One checkpoint can adapt to different hardware and latency budgets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</Words>
  <Application>Microsoft Office PowerPoint</Application>
  <PresentationFormat>自訂</PresentationFormat>
  <Paragraphs>17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PT Serif</vt:lpstr>
      <vt:lpstr>Arial</vt:lpstr>
      <vt:lpstr>Calibri</vt:lpstr>
      <vt:lpstr>Office Theme</vt:lpstr>
      <vt:lpstr>[Title] [seminar]</vt:lpstr>
      <vt:lpstr>Outline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郭子維</dc:creator>
  <cp:lastModifiedBy>郭子維</cp:lastModifiedBy>
  <cp:revision>2</cp:revision>
  <dcterms:modified xsi:type="dcterms:W3CDTF">2026-05-27T21:18:23Z</dcterms:modified>
</cp:coreProperties>
</file>