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7" r:id="rId1"/>
  </p:sldMasterIdLst>
  <p:notesMasterIdLst>
    <p:notesMasterId r:id="rId5"/>
  </p:notesMasterIdLst>
  <p:sldIdLst>
    <p:sldId id="256" r:id="rId4"/>
    <p:sldId id="257" r:id="rId3"/>
    <p:sldId id="258" r:id="rId2"/>
    <p:sldId id="259" r:id="rId14"/>
  </p:sldIdLst>
  <p:sldSz cx="14630400" cy="8229600"/>
  <p:notesSz cx="8229600" cy="14630400"/>
  <p:embeddedFontLst>
    <p:embeddedFont>
      <p:font typeface="PT Serif" panose="020A0603040505020204" pitchFamily="18" charset="0"/>
      <p:regular r:id="rId6"/>
      <p:bold r:id="rId7"/>
      <p:italic r:id="rId8"/>
      <p:boldItalic r:id="rId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99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3.xml"/><Relationship Id="rId3" Type="http://schemas.openxmlformats.org/officeDocument/2006/relationships/slide" Target="slides/slide2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font" Target="fonts/font1.fntdata"/><Relationship Id="rId7" Type="http://schemas.openxmlformats.org/officeDocument/2006/relationships/font" Target="fonts/font2.fntdata"/><Relationship Id="rId8" Type="http://schemas.openxmlformats.org/officeDocument/2006/relationships/font" Target="fonts/font3.fntdata"/><Relationship Id="rId9" Type="http://schemas.openxmlformats.org/officeDocument/2006/relationships/font" Target="fonts/font4.fntdata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/>
              <a:t>‹#›</a:t>
            </a:fld>
            <a:endParaRPr sz="1200" b="0" i="0" u="none" strike="noStrike" cap="none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 master">
  <p:cSld name="Slide 1 master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2 master">
  <p:cSld name="Slide 2 mast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3 master">
  <p:cSld name="Slide 3 mast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4 master">
  <p:cSld name="Slide 4 mast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5 master">
  <p:cSld name="Slide 5 master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6 master">
  <p:cSld name="Slide 6 mast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7 master">
  <p:cSld name="Slide 7 mast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8 master">
  <p:cSld name="Slide 8 mast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9 master">
  <p:cSld name="Slide 9 mast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0 master">
  <p:cSld name="Slide 10 master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1 master">
  <p:cSld name="Slide 11 mast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2 master">
  <p:cSld name="Slide 12 master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3 master">
  <p:cSld name="Slide 13 mast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4 master">
  <p:cSld name="Slide 14 mast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5 master">
  <p:cSld name="Slide 15 mast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" type="title">
  <p:cSld name="TITL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8"/>
          <p:cNvSpPr/>
          <p:nvPr/>
        </p:nvSpPr>
        <p:spPr>
          <a:xfrm>
            <a:off x="0" y="6625883"/>
            <a:ext cx="14630400" cy="1603800"/>
          </a:xfrm>
          <a:prstGeom prst="rect">
            <a:avLst/>
          </a:prstGeom>
          <a:solidFill>
            <a:srgbClr val="052E6E"/>
          </a:solidFill>
          <a:ln w="1525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9700" tIns="54850" rIns="109700" bIns="548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18"/>
          <p:cNvSpPr/>
          <p:nvPr/>
        </p:nvSpPr>
        <p:spPr>
          <a:xfrm>
            <a:off x="12627499" y="6777787"/>
            <a:ext cx="2202600" cy="7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NYCU</a:t>
            </a:r>
            <a:endParaRPr sz="42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9" name="Google Shape;59;p18"/>
          <p:cNvCxnSpPr/>
          <p:nvPr/>
        </p:nvCxnSpPr>
        <p:spPr>
          <a:xfrm>
            <a:off x="1828800" y="4040945"/>
            <a:ext cx="10972800" cy="0"/>
          </a:xfrm>
          <a:prstGeom prst="straightConnector1">
            <a:avLst/>
          </a:prstGeom>
          <a:noFill/>
          <a:ln w="68575" cap="flat" cmpd="sng">
            <a:solidFill>
              <a:srgbClr val="5B9BD5"/>
            </a:solidFill>
            <a:prstDash val="lgDash"/>
            <a:round/>
            <a:headEnd type="none" w="sm" len="sm"/>
            <a:tailEnd type="none" w="sm" len="sm"/>
          </a:ln>
        </p:spPr>
      </p:cxnSp>
      <p:sp>
        <p:nvSpPr>
          <p:cNvPr id="60" name="Google Shape;60;p18"/>
          <p:cNvSpPr txBox="1">
            <a:spLocks noGrp="1"/>
          </p:cNvSpPr>
          <p:nvPr>
            <p:ph type="ctrTitle"/>
          </p:nvPr>
        </p:nvSpPr>
        <p:spPr>
          <a:xfrm>
            <a:off x="1828800" y="712052"/>
            <a:ext cx="10972800" cy="27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Char char="●"/>
              <a:defRPr sz="5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61" name="Google Shape;61;p18"/>
          <p:cNvSpPr txBox="1">
            <a:spLocks noGrp="1"/>
          </p:cNvSpPr>
          <p:nvPr>
            <p:ph type="subTitle" idx="1"/>
          </p:nvPr>
        </p:nvSpPr>
        <p:spPr>
          <a:xfrm>
            <a:off x="1828800" y="4845577"/>
            <a:ext cx="10972800" cy="159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2pPr>
            <a:lvl3pPr lvl="2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/>
            </a:lvl3pPr>
            <a:lvl4pPr lvl="3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4pPr>
            <a:lvl5pPr lvl="4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5pPr>
            <a:lvl6pPr lvl="5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7pPr>
            <a:lvl8pPr lvl="7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8pPr>
            <a:lvl9pPr lvl="8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9pPr>
          </a:lstStyle>
          <a:p>
            <a:endParaRPr/>
          </a:p>
        </p:txBody>
      </p:sp>
      <p:sp>
        <p:nvSpPr>
          <p:cNvPr id="62" name="Google Shape;62;p18"/>
          <p:cNvSpPr txBox="1">
            <a:spLocks noGrp="1"/>
          </p:cNvSpPr>
          <p:nvPr>
            <p:ph type="dt" idx="10"/>
          </p:nvPr>
        </p:nvSpPr>
        <p:spPr>
          <a:xfrm>
            <a:off x="1005840" y="7627620"/>
            <a:ext cx="3291900" cy="4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63" name="Google Shape;63;p18"/>
          <p:cNvSpPr txBox="1">
            <a:spLocks noGrp="1"/>
          </p:cNvSpPr>
          <p:nvPr>
            <p:ph type="ftr" idx="11"/>
          </p:nvPr>
        </p:nvSpPr>
        <p:spPr>
          <a:xfrm>
            <a:off x="4846320" y="7627620"/>
            <a:ext cx="4937700" cy="4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64" name="Google Shape;64;p18"/>
          <p:cNvSpPr txBox="1">
            <a:spLocks noGrp="1"/>
          </p:cNvSpPr>
          <p:nvPr>
            <p:ph type="sldNum" idx="12"/>
          </p:nvPr>
        </p:nvSpPr>
        <p:spPr>
          <a:xfrm>
            <a:off x="11167264" y="7627544"/>
            <a:ext cx="3291900" cy="4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65" name="Google Shape;65;p18"/>
          <p:cNvGrpSpPr/>
          <p:nvPr/>
        </p:nvGrpSpPr>
        <p:grpSpPr>
          <a:xfrm>
            <a:off x="12816184" y="163830"/>
            <a:ext cx="1825200" cy="1576685"/>
            <a:chOff x="10680153" y="136525"/>
            <a:chExt cx="1521000" cy="1313904"/>
          </a:xfrm>
        </p:grpSpPr>
        <p:pic>
          <p:nvPicPr>
            <p:cNvPr id="66" name="Google Shape;66;p18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0832124" y="136525"/>
              <a:ext cx="1217128" cy="9137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7" name="Google Shape;67;p18"/>
            <p:cNvSpPr/>
            <p:nvPr/>
          </p:nvSpPr>
          <p:spPr>
            <a:xfrm>
              <a:off x="10680153" y="1050229"/>
              <a:ext cx="1521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9700" tIns="54850" rIns="109700" bIns="5485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52E6E"/>
                  </a:solidFill>
                  <a:latin typeface="Calibri"/>
                  <a:ea typeface="Calibri"/>
                  <a:cs typeface="Calibri"/>
                  <a:sym typeface="Calibri"/>
                </a:rPr>
                <a:t>BASIC LAB</a:t>
              </a:r>
              <a:endParaRPr sz="2400" b="0" i="0" u="none" strike="noStrike" cap="none">
                <a:solidFill>
                  <a:srgbClr val="052E6E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8" name="Google Shape;68;p18"/>
          <p:cNvSpPr/>
          <p:nvPr/>
        </p:nvSpPr>
        <p:spPr>
          <a:xfrm>
            <a:off x="11242102" y="3534383"/>
            <a:ext cx="1044300" cy="1044300"/>
          </a:xfrm>
          <a:prstGeom prst="ellipse">
            <a:avLst/>
          </a:prstGeom>
          <a:solidFill>
            <a:srgbClr val="F0DF88"/>
          </a:solidFill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8"/>
          <p:cNvSpPr/>
          <p:nvPr/>
        </p:nvSpPr>
        <p:spPr>
          <a:xfrm>
            <a:off x="14151502" y="7686821"/>
            <a:ext cx="319800" cy="319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" type="obj">
  <p:cSld name="OBJEC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5371702"/>
            <a:ext cx="2857898" cy="2857898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9"/>
          <p:cNvSpPr/>
          <p:nvPr/>
        </p:nvSpPr>
        <p:spPr>
          <a:xfrm>
            <a:off x="10332720" y="0"/>
            <a:ext cx="4297800" cy="8229600"/>
          </a:xfrm>
          <a:prstGeom prst="rect">
            <a:avLst/>
          </a:prstGeom>
          <a:solidFill>
            <a:srgbClr val="052E6E"/>
          </a:solidFill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9"/>
          <p:cNvSpPr/>
          <p:nvPr/>
        </p:nvSpPr>
        <p:spPr>
          <a:xfrm>
            <a:off x="10278907" y="7308256"/>
            <a:ext cx="2202600" cy="7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NYCU</a:t>
            </a:r>
            <a:endParaRPr sz="4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9"/>
          <p:cNvSpPr txBox="1">
            <a:spLocks noGrp="1"/>
          </p:cNvSpPr>
          <p:nvPr>
            <p:ph type="title"/>
          </p:nvPr>
        </p:nvSpPr>
        <p:spPr>
          <a:xfrm>
            <a:off x="1005840" y="438150"/>
            <a:ext cx="8778300" cy="159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Char char="●"/>
              <a:defRPr sz="5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body" idx="1"/>
          </p:nvPr>
        </p:nvSpPr>
        <p:spPr>
          <a:xfrm>
            <a:off x="1005840" y="2774852"/>
            <a:ext cx="8778300" cy="46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t" anchorCtr="0">
            <a:normAutofit/>
          </a:bodyPr>
          <a:lstStyle>
            <a:lvl1pPr marL="457200" lvl="0" indent="-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/>
            </a:lvl1pPr>
            <a:lvl2pPr marL="914400" lvl="1" indent="-3683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Char char="○"/>
              <a:defRPr sz="1700"/>
            </a:lvl2pPr>
            <a:lvl3pPr marL="1371600" lvl="2" indent="-3683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Char char="■"/>
              <a:defRPr sz="1700"/>
            </a:lvl3pPr>
            <a:lvl4pPr marL="1828800" lvl="3" indent="-3683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  <a:defRPr sz="1700"/>
            </a:lvl4pPr>
            <a:lvl5pPr marL="2286000" lvl="4" indent="-3683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Char char="○"/>
              <a:defRPr sz="1700"/>
            </a:lvl5pPr>
            <a:lvl6pPr marL="2743200" lvl="5" indent="-3683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Char char="■"/>
              <a:defRPr sz="1700"/>
            </a:lvl6pPr>
            <a:lvl7pPr marL="3200400" lvl="6" indent="-3683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  <a:defRPr sz="1700"/>
            </a:lvl7pPr>
            <a:lvl8pPr marL="3657600" lvl="7" indent="-3683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Char char="○"/>
              <a:defRPr sz="1700"/>
            </a:lvl8pPr>
            <a:lvl9pPr marL="4114800" lvl="8" indent="-3683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Char char="■"/>
              <a:defRPr sz="1700"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dt" idx="10"/>
          </p:nvPr>
        </p:nvSpPr>
        <p:spPr>
          <a:xfrm>
            <a:off x="1005840" y="7627620"/>
            <a:ext cx="3291900" cy="4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77" name="Google Shape;77;p19"/>
          <p:cNvSpPr txBox="1">
            <a:spLocks noGrp="1"/>
          </p:cNvSpPr>
          <p:nvPr>
            <p:ph type="ftr" idx="11"/>
          </p:nvPr>
        </p:nvSpPr>
        <p:spPr>
          <a:xfrm>
            <a:off x="4846320" y="7627620"/>
            <a:ext cx="4937700" cy="4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78" name="Google Shape;78;p19"/>
          <p:cNvSpPr txBox="1">
            <a:spLocks noGrp="1"/>
          </p:cNvSpPr>
          <p:nvPr>
            <p:ph type="sldNum" idx="12"/>
          </p:nvPr>
        </p:nvSpPr>
        <p:spPr>
          <a:xfrm>
            <a:off x="11170264" y="7627546"/>
            <a:ext cx="3291900" cy="4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79" name="Google Shape;79;p19"/>
          <p:cNvGrpSpPr/>
          <p:nvPr/>
        </p:nvGrpSpPr>
        <p:grpSpPr>
          <a:xfrm>
            <a:off x="12816184" y="163830"/>
            <a:ext cx="1825200" cy="1576685"/>
            <a:chOff x="10680153" y="136525"/>
            <a:chExt cx="1521000" cy="1313904"/>
          </a:xfrm>
        </p:grpSpPr>
        <p:pic>
          <p:nvPicPr>
            <p:cNvPr id="80" name="Google Shape;80;p19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0832124" y="136525"/>
              <a:ext cx="1217128" cy="9137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" name="Google Shape;81;p19"/>
            <p:cNvSpPr/>
            <p:nvPr/>
          </p:nvSpPr>
          <p:spPr>
            <a:xfrm>
              <a:off x="10680153" y="1050229"/>
              <a:ext cx="1521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9700" tIns="54850" rIns="109700" bIns="5485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BASIC LAB</a:t>
              </a:r>
              <a:endPara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82" name="Google Shape;82;p19"/>
          <p:cNvCxnSpPr/>
          <p:nvPr/>
        </p:nvCxnSpPr>
        <p:spPr>
          <a:xfrm>
            <a:off x="1005840" y="2267536"/>
            <a:ext cx="5725500" cy="0"/>
          </a:xfrm>
          <a:prstGeom prst="straightConnector1">
            <a:avLst/>
          </a:prstGeom>
          <a:noFill/>
          <a:ln w="68575" cap="flat" cmpd="sng">
            <a:solidFill>
              <a:schemeClr val="accent5"/>
            </a:solidFill>
            <a:prstDash val="lgDash"/>
            <a:round/>
            <a:headEnd type="none" w="sm" len="sm"/>
            <a:tailEnd type="none" w="sm" len="sm"/>
          </a:ln>
        </p:spPr>
      </p:cxnSp>
      <p:sp>
        <p:nvSpPr>
          <p:cNvPr id="83" name="Google Shape;83;p19"/>
          <p:cNvSpPr/>
          <p:nvPr/>
        </p:nvSpPr>
        <p:spPr>
          <a:xfrm>
            <a:off x="14151502" y="7686821"/>
            <a:ext cx="319800" cy="319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" type="titleOnly">
  <p:cSld name="3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20"/>
          <p:cNvGrpSpPr/>
          <p:nvPr/>
        </p:nvGrpSpPr>
        <p:grpSpPr>
          <a:xfrm>
            <a:off x="11772502" y="2567376"/>
            <a:ext cx="2857898" cy="5662224"/>
            <a:chOff x="9810418" y="2139480"/>
            <a:chExt cx="2381582" cy="4718520"/>
          </a:xfrm>
        </p:grpSpPr>
        <p:pic>
          <p:nvPicPr>
            <p:cNvPr id="86" name="Google Shape;86;p20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 rot="10800000">
              <a:off x="9810418" y="4476418"/>
              <a:ext cx="2381582" cy="23815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7" name="Google Shape;87;p20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 rot="-5400000">
              <a:off x="9810418" y="2139480"/>
              <a:ext cx="2381582" cy="238158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8" name="Google Shape;88;p20"/>
          <p:cNvSpPr/>
          <p:nvPr/>
        </p:nvSpPr>
        <p:spPr>
          <a:xfrm>
            <a:off x="0" y="0"/>
            <a:ext cx="730800" cy="8303400"/>
          </a:xfrm>
          <a:prstGeom prst="rect">
            <a:avLst/>
          </a:prstGeom>
          <a:solidFill>
            <a:srgbClr val="052E6E"/>
          </a:solidFill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20"/>
          <p:cNvSpPr/>
          <p:nvPr/>
        </p:nvSpPr>
        <p:spPr>
          <a:xfrm rot="2452991">
            <a:off x="12187960" y="6698831"/>
            <a:ext cx="2202647" cy="757132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52E6E"/>
                </a:solidFill>
                <a:latin typeface="Calibri"/>
              </a:rPr>
              <a:t>NYCU</a:t>
            </a:r>
          </a:p>
        </p:txBody>
      </p:sp>
      <p:cxnSp>
        <p:nvCxnSpPr>
          <p:cNvPr id="90" name="Google Shape;90;p20"/>
          <p:cNvCxnSpPr/>
          <p:nvPr/>
        </p:nvCxnSpPr>
        <p:spPr>
          <a:xfrm>
            <a:off x="10171458" y="2028826"/>
            <a:ext cx="4470000" cy="0"/>
          </a:xfrm>
          <a:prstGeom prst="straightConnector1">
            <a:avLst/>
          </a:prstGeom>
          <a:noFill/>
          <a:ln w="68575" cap="flat" cmpd="sng">
            <a:solidFill>
              <a:schemeClr val="accent5"/>
            </a:solidFill>
            <a:prstDash val="lgDash"/>
            <a:round/>
            <a:headEnd type="none" w="sm" len="sm"/>
            <a:tailEnd type="none" w="sm" len="sm"/>
          </a:ln>
        </p:spPr>
      </p:cxnSp>
      <p:sp>
        <p:nvSpPr>
          <p:cNvPr id="91" name="Google Shape;91;p20"/>
          <p:cNvSpPr txBox="1">
            <a:spLocks noGrp="1"/>
          </p:cNvSpPr>
          <p:nvPr>
            <p:ph type="title"/>
          </p:nvPr>
        </p:nvSpPr>
        <p:spPr>
          <a:xfrm>
            <a:off x="1005840" y="438150"/>
            <a:ext cx="11707800" cy="159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Char char="●"/>
              <a:defRPr sz="5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92" name="Google Shape;92;p20"/>
          <p:cNvSpPr txBox="1">
            <a:spLocks noGrp="1"/>
          </p:cNvSpPr>
          <p:nvPr>
            <p:ph type="dt" idx="10"/>
          </p:nvPr>
        </p:nvSpPr>
        <p:spPr>
          <a:xfrm>
            <a:off x="1005840" y="7627620"/>
            <a:ext cx="3291900" cy="4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93" name="Google Shape;93;p20"/>
          <p:cNvSpPr txBox="1">
            <a:spLocks noGrp="1"/>
          </p:cNvSpPr>
          <p:nvPr>
            <p:ph type="ftr" idx="11"/>
          </p:nvPr>
        </p:nvSpPr>
        <p:spPr>
          <a:xfrm>
            <a:off x="4846320" y="7627620"/>
            <a:ext cx="4937700" cy="4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94" name="Google Shape;94;p20"/>
          <p:cNvSpPr txBox="1">
            <a:spLocks noGrp="1"/>
          </p:cNvSpPr>
          <p:nvPr>
            <p:ph type="sldNum" idx="12"/>
          </p:nvPr>
        </p:nvSpPr>
        <p:spPr>
          <a:xfrm>
            <a:off x="11170264" y="7627620"/>
            <a:ext cx="3291900" cy="4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95" name="Google Shape;95;p20"/>
          <p:cNvGrpSpPr/>
          <p:nvPr/>
        </p:nvGrpSpPr>
        <p:grpSpPr>
          <a:xfrm>
            <a:off x="12816184" y="163830"/>
            <a:ext cx="1825200" cy="1576685"/>
            <a:chOff x="10680153" y="136525"/>
            <a:chExt cx="1521000" cy="1313904"/>
          </a:xfrm>
        </p:grpSpPr>
        <p:pic>
          <p:nvPicPr>
            <p:cNvPr id="96" name="Google Shape;96;p2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0832124" y="136525"/>
              <a:ext cx="1217128" cy="9137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" name="Google Shape;97;p20"/>
            <p:cNvSpPr/>
            <p:nvPr/>
          </p:nvSpPr>
          <p:spPr>
            <a:xfrm>
              <a:off x="10680153" y="1050229"/>
              <a:ext cx="1521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9700" tIns="54850" rIns="109700" bIns="5485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52E6E"/>
                  </a:solidFill>
                  <a:latin typeface="Calibri"/>
                  <a:ea typeface="Calibri"/>
                  <a:cs typeface="Calibri"/>
                  <a:sym typeface="Calibri"/>
                </a:rPr>
                <a:t>BASIC LAB</a:t>
              </a:r>
              <a:endParaRPr sz="2400" b="0" i="0" u="none" strike="noStrike" cap="none">
                <a:solidFill>
                  <a:srgbClr val="052E6E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8" name="Google Shape;98;p20"/>
          <p:cNvSpPr/>
          <p:nvPr/>
        </p:nvSpPr>
        <p:spPr>
          <a:xfrm>
            <a:off x="14151502" y="7686821"/>
            <a:ext cx="319800" cy="319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0568448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8" r:id="rId1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MoBiQuant: problem setting and research gap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b="1">
                <a:latin typeface="Aptos"/>
              </a:rPr>
              <a:t>1. Static PTQ</a:t>
            </a:r>
          </a:p>
          <a:p>
            <a:pPr/>
          </a:p>
          <a:p>
            <a:pPr lvl="1"/>
            <a:r>
              <a:rPr>
                <a:latin typeface="Aptos"/>
              </a:rPr>
              <a:t>GPTQ / OmniQuant / SmoothQuant / AWQ optimize one chosen bit-width.</a:t>
            </a:r>
          </a:p>
          <a:p>
            <a:pPr lvl="1"/>
          </a:p>
          <a:p>
            <a:pPr lvl="1"/>
            <a:r>
              <a:rPr>
                <a:latin typeface="Aptos"/>
              </a:rPr>
              <a:t>Strong at a fixed precision, but brittle when runtime precision changes.</a:t>
            </a:r>
          </a:p>
          <a:p>
            <a:pPr lvl="1"/>
          </a:p>
        </p:txBody>
      </p:sp>
      <p:sp>
        <p:nvSpPr>
          <p:cNvPr id="4" name="TextBox 3"/>
          <p:cNvSpPr txBox="1"/>
          <p:nvPr/>
        </p:nvSpPr>
        <p:spPr>
          <a:xfrm>
            <a:off x="11170264" y="7627546"/>
            <a:ext cx="3291900" cy="43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95959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observation: outlier migration breaks cross-bit generalization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-91440000" y="-91440000"/>
          </a:xfrm>
        </p:spPr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11480" y="1645920"/>
            <a:ext cx="1136873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000000"/>
                </a:solidFill>
                <a:latin typeface="Aptos"/>
              </a:rPr>
              <a:t>Tokens causing high quantization error are not stable across bit-widths.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743200"/>
            <a:ext cx="113687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505050"/>
                </a:solidFill>
                <a:latin typeface="Aptos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70264" y="7627546"/>
            <a:ext cx="3291900" cy="43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95959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Method: many-in-one bit slices plus token-aware routing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b="1">
                <a:latin typeface="Aptos"/>
              </a:rPr>
              <a:t>1. MoBiSlice</a:t>
            </a:r>
          </a:p>
          <a:p>
            <a:pPr/>
          </a:p>
          <a:p>
            <a:pPr lvl="1"/>
            <a:r>
              <a:rPr>
                <a:latin typeface="Aptos"/>
              </a:rPr>
              <a:t>Recursively quantize residual weights into fixed 2-bit slices.</a:t>
            </a:r>
          </a:p>
          <a:p>
            <a:pPr lvl="1"/>
          </a:p>
          <a:p>
            <a:pPr lvl="1"/>
            <a:r>
              <a:rPr>
                <a:latin typeface="Aptos"/>
              </a:rPr>
              <a:t>Reconstruct 2/4/6/8-bit weights by summing slices.</a:t>
            </a:r>
          </a:p>
          <a:p>
            <a:pPr lvl="1"/>
          </a:p>
        </p:txBody>
      </p:sp>
      <p:sp>
        <p:nvSpPr>
          <p:cNvPr id="4" name="TextBox 3"/>
          <p:cNvSpPr txBox="1"/>
          <p:nvPr/>
        </p:nvSpPr>
        <p:spPr>
          <a:xfrm>
            <a:off x="11170264" y="7627546"/>
            <a:ext cx="3291900" cy="43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95959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Main results and conclusion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b="1">
                <a:latin typeface="Aptos"/>
              </a:rPr>
              <a:t>1. Accuracy</a:t>
            </a:r>
          </a:p>
          <a:p>
            <a:pPr/>
          </a:p>
          <a:p>
            <a:pPr lvl="1"/>
            <a:r>
              <a:rPr>
                <a:latin typeface="Aptos"/>
              </a:rPr>
              <a:t>- Matches or surpasses static scalar PTQ on LLaMA2/LLaMA3 families.
- Large gains at 2-3 bit when compared with any-precision baselines.</a:t>
            </a:r>
          </a:p>
          <a:p>
            <a:pPr lvl="1"/>
          </a:p>
        </p:txBody>
      </p:sp>
      <p:sp>
        <p:nvSpPr>
          <p:cNvPr id="4" name="TextBox 3"/>
          <p:cNvSpPr txBox="1"/>
          <p:nvPr/>
        </p:nvSpPr>
        <p:spPr>
          <a:xfrm>
            <a:off x="11170264" y="7627546"/>
            <a:ext cx="3291900" cy="43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95959"/>
                </a:solidFill>
              </a:rP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83</Words>
  <Application>Microsoft Office PowerPoint</Application>
  <PresentationFormat>自訂</PresentationFormat>
  <Paragraphs>17</Paragraphs>
  <Slides>3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7" baseType="lpstr">
      <vt:lpstr>PT Serif</vt:lpstr>
      <vt:lpstr>Arial</vt:lpstr>
      <vt:lpstr>Calibri</vt:lpstr>
      <vt:lpstr>Office Theme</vt:lpstr>
      <vt:lpstr>[Title] [seminar]</vt:lpstr>
      <vt:lpstr>Outline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郭子維</dc:creator>
  <cp:lastModifiedBy>郭子維</cp:lastModifiedBy>
  <cp:revision>2</cp:revision>
  <dcterms:modified xsi:type="dcterms:W3CDTF">2026-05-27T21:18:23Z</dcterms:modified>
</cp:coreProperties>
</file>