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5"/>
  </p:notesMasterIdLst>
  <p:sldIdLst>
    <p:sldId id="256" r:id="rId4"/>
    <p:sldId id="257" r:id="rId3"/>
    <p:sldId id="258" r:id="rId2"/>
    <p:sldId id="259" r:id="rId14"/>
  </p:sldIdLst>
  <p:sldSz cx="14630400" cy="8229600"/>
  <p:notesSz cx="8229600" cy="14630400"/>
  <p:embeddedFontLst>
    <p:embeddedFont>
      <p:font typeface="PT Serif" panose="020A0603040505020204" pitchFamily="18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1 master">
  <p:cSld name="Slide 11 mast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2 master">
  <p:cSld name="Slide 12 mast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3 master">
  <p:cSld name="Slide 13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4 master">
  <p:cSld name="Slide 14 mast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5 master">
  <p:cSld name="Slide 15 mast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/>
          <p:nvPr/>
        </p:nvSpPr>
        <p:spPr>
          <a:xfrm>
            <a:off x="0" y="6625883"/>
            <a:ext cx="14630400" cy="1603800"/>
          </a:xfrm>
          <a:prstGeom prst="rect">
            <a:avLst/>
          </a:prstGeom>
          <a:solidFill>
            <a:srgbClr val="052E6E"/>
          </a:solidFill>
          <a:ln w="152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8"/>
          <p:cNvSpPr/>
          <p:nvPr/>
        </p:nvSpPr>
        <p:spPr>
          <a:xfrm>
            <a:off x="12627499" y="6777787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18"/>
          <p:cNvCxnSpPr/>
          <p:nvPr/>
        </p:nvCxnSpPr>
        <p:spPr>
          <a:xfrm>
            <a:off x="1828800" y="4040945"/>
            <a:ext cx="10972800" cy="0"/>
          </a:xfrm>
          <a:prstGeom prst="straightConnector1">
            <a:avLst/>
          </a:prstGeom>
          <a:noFill/>
          <a:ln w="68575" cap="flat" cmpd="sng">
            <a:solidFill>
              <a:srgbClr val="5B9BD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60" name="Google Shape;60;p18"/>
          <p:cNvSpPr txBox="1">
            <a:spLocks noGrp="1"/>
          </p:cNvSpPr>
          <p:nvPr>
            <p:ph type="ctrTitle"/>
          </p:nvPr>
        </p:nvSpPr>
        <p:spPr>
          <a:xfrm>
            <a:off x="1828800" y="712052"/>
            <a:ext cx="10972800" cy="2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subTitle" idx="1"/>
          </p:nvPr>
        </p:nvSpPr>
        <p:spPr>
          <a:xfrm>
            <a:off x="1828800" y="4845577"/>
            <a:ext cx="10972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11167264" y="7627544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18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66" name="Google Shape;66;p1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8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18"/>
          <p:cNvSpPr/>
          <p:nvPr/>
        </p:nvSpPr>
        <p:spPr>
          <a:xfrm>
            <a:off x="11242102" y="3534383"/>
            <a:ext cx="1044300" cy="1044300"/>
          </a:xfrm>
          <a:prstGeom prst="ellipse">
            <a:avLst/>
          </a:prstGeom>
          <a:solidFill>
            <a:srgbClr val="F0DF88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8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71702"/>
            <a:ext cx="2857898" cy="285789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/>
          <p:nvPr/>
        </p:nvSpPr>
        <p:spPr>
          <a:xfrm>
            <a:off x="10332720" y="0"/>
            <a:ext cx="4297800" cy="82296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9"/>
          <p:cNvSpPr/>
          <p:nvPr/>
        </p:nvSpPr>
        <p:spPr>
          <a:xfrm>
            <a:off x="10278907" y="7308256"/>
            <a:ext cx="2202600" cy="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NYCU</a:t>
            </a:r>
            <a:endParaRPr sz="4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87783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1005840" y="2774852"/>
            <a:ext cx="8778300" cy="46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rmAutofit/>
          </a:bodyPr>
          <a:lstStyle>
            <a:lvl1pPr marL="457200" lvl="0" indent="-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/>
            </a:lvl1pPr>
            <a:lvl2pPr marL="914400" lvl="1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2pPr>
            <a:lvl3pPr marL="1371600" lvl="2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3pPr>
            <a:lvl4pPr marL="1828800" lvl="3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4pPr>
            <a:lvl5pPr marL="2286000" lvl="4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5pPr>
            <a:lvl6pPr marL="2743200" lvl="5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6pPr>
            <a:lvl7pPr marL="3200400" lvl="6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  <a:defRPr sz="1700"/>
            </a:lvl7pPr>
            <a:lvl8pPr marL="3657600" lvl="7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○"/>
              <a:defRPr sz="1700"/>
            </a:lvl8pPr>
            <a:lvl9pPr marL="4114800" lvl="8" indent="-3683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  <a:defRPr sz="17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sldNum" idx="12"/>
          </p:nvPr>
        </p:nvSpPr>
        <p:spPr>
          <a:xfrm>
            <a:off x="11170264" y="7627546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9" name="Google Shape;79;p19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80" name="Google Shape;80;p1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" name="Google Shape;81;p19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" name="Google Shape;82;p19"/>
          <p:cNvCxnSpPr/>
          <p:nvPr/>
        </p:nvCxnSpPr>
        <p:spPr>
          <a:xfrm>
            <a:off x="1005840" y="2267536"/>
            <a:ext cx="57255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83" name="Google Shape;83;p19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 type="titleOnly">
  <p:cSld name="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0"/>
          <p:cNvGrpSpPr/>
          <p:nvPr/>
        </p:nvGrpSpPr>
        <p:grpSpPr>
          <a:xfrm>
            <a:off x="11772502" y="2567376"/>
            <a:ext cx="2857898" cy="5662224"/>
            <a:chOff x="9810418" y="2139480"/>
            <a:chExt cx="2381582" cy="4718520"/>
          </a:xfrm>
        </p:grpSpPr>
        <p:pic>
          <p:nvPicPr>
            <p:cNvPr id="86" name="Google Shape;86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0800000">
              <a:off x="9810418" y="4476418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2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-5400000">
              <a:off x="9810418" y="2139480"/>
              <a:ext cx="2381582" cy="2381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20"/>
          <p:cNvSpPr/>
          <p:nvPr/>
        </p:nvSpPr>
        <p:spPr>
          <a:xfrm>
            <a:off x="0" y="0"/>
            <a:ext cx="730800" cy="8303400"/>
          </a:xfrm>
          <a:prstGeom prst="rect">
            <a:avLst/>
          </a:prstGeom>
          <a:solidFill>
            <a:srgbClr val="052E6E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0"/>
          <p:cNvSpPr/>
          <p:nvPr/>
        </p:nvSpPr>
        <p:spPr>
          <a:xfrm rot="2452991">
            <a:off x="12187960" y="6698831"/>
            <a:ext cx="2202647" cy="75713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>
                  <a:noFill/>
                </a:ln>
                <a:solidFill>
                  <a:srgbClr val="052E6E"/>
                </a:solidFill>
                <a:latin typeface="Calibri"/>
              </a:rPr>
              <a:t>NYCU</a:t>
            </a:r>
          </a:p>
        </p:txBody>
      </p:sp>
      <p:cxnSp>
        <p:nvCxnSpPr>
          <p:cNvPr id="90" name="Google Shape;90;p20"/>
          <p:cNvCxnSpPr/>
          <p:nvPr/>
        </p:nvCxnSpPr>
        <p:spPr>
          <a:xfrm>
            <a:off x="10171458" y="2028826"/>
            <a:ext cx="4470000" cy="0"/>
          </a:xfrm>
          <a:prstGeom prst="straightConnector1">
            <a:avLst/>
          </a:prstGeom>
          <a:noFill/>
          <a:ln w="68575" cap="flat" cmpd="sng">
            <a:solidFill>
              <a:schemeClr val="accent5"/>
            </a:solidFill>
            <a:prstDash val="lgDash"/>
            <a:round/>
            <a:headEnd type="none" w="sm" len="sm"/>
            <a:tailEnd type="none" w="sm" len="sm"/>
          </a:ln>
        </p:spPr>
      </p:cxnSp>
      <p:sp>
        <p:nvSpPr>
          <p:cNvPr id="91" name="Google Shape;91;p20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17078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Char char="●"/>
              <a:defRPr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sldNum" idx="12"/>
          </p:nvPr>
        </p:nvSpPr>
        <p:spPr>
          <a:xfrm>
            <a:off x="11170264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5" name="Google Shape;95;p20"/>
          <p:cNvGrpSpPr/>
          <p:nvPr/>
        </p:nvGrpSpPr>
        <p:grpSpPr>
          <a:xfrm>
            <a:off x="12816184" y="163830"/>
            <a:ext cx="1825200" cy="1576685"/>
            <a:chOff x="10680153" y="136525"/>
            <a:chExt cx="1521000" cy="1313904"/>
          </a:xfrm>
        </p:grpSpPr>
        <p:pic>
          <p:nvPicPr>
            <p:cNvPr id="96" name="Google Shape;96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832124" y="136525"/>
              <a:ext cx="1217128" cy="913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0"/>
            <p:cNvSpPr/>
            <p:nvPr/>
          </p:nvSpPr>
          <p:spPr>
            <a:xfrm>
              <a:off x="10680153" y="1050229"/>
              <a:ext cx="152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9700" tIns="54850" rIns="109700" bIns="5485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52E6E"/>
                  </a:solidFill>
                  <a:latin typeface="Calibri"/>
                  <a:ea typeface="Calibri"/>
                  <a:cs typeface="Calibri"/>
                  <a:sym typeface="Calibri"/>
                </a:rPr>
                <a:t>BASIC LAB</a:t>
              </a:r>
              <a:endParaRPr sz="2400" b="0" i="0" u="none" strike="noStrike" cap="none">
                <a:solidFill>
                  <a:srgbClr val="052E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0"/>
          <p:cNvSpPr/>
          <p:nvPr/>
        </p:nvSpPr>
        <p:spPr>
          <a:xfrm>
            <a:off x="14151502" y="7686821"/>
            <a:ext cx="319800" cy="31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56844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8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DeckTitle"/>
          <p:cNvSpPr txBox="1"/>
          <p:nvPr/>
        </p:nvSpPr>
        <p:spPr>
          <a:xfrm>
            <a:off x="1078992" y="768096"/>
            <a:ext cx="8869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0">
                <a:solidFill>
                  <a:srgbClr val="000000"/>
                </a:solidFill>
                <a:latin typeface="Arial"/>
              </a:defRPr>
            </a:pPr>
            <a:r>
              <a:t>MoBiQuant: Problem Setting and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847088"/>
            <a:ext cx="8595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700" b="1">
                <a:solidFill>
                  <a:srgbClr val="093670"/>
                </a:solidFill>
                <a:latin typeface="Arial"/>
              </a:defRPr>
            </a:pPr>
            <a:r>
              <a:t>Goal: one quantized LLM should adapt precision online as latency and memory budgets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487168"/>
            <a:ext cx="2788920" cy="2743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5B9BD5"/>
                </a:solidFill>
                <a:latin typeface="Arial"/>
              </a:defRPr>
            </a:pPr>
            <a:r>
              <a:t>Past research: static PTQ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GPTQ, OmniQuant, SmoothQuant, AWQ tune one target bit-width.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They optimize fixed-precision quality, not runtime elasticity.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Changing bit-width usually requires recalibration or quality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2487168"/>
            <a:ext cx="2788920" cy="2743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F27A2E"/>
                </a:solidFill>
                <a:latin typeface="Arial"/>
              </a:defRPr>
            </a:pPr>
            <a:r>
              <a:t>Past research: any-precision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AnyPrecisionLLM, AnyBCQ, MatQuant support multiple precisions.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But they add scaling, repacking, table lookups, or kernel overhead.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Switching precision is not yet cheap at token granularity.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59168" y="2487168"/>
            <a:ext cx="2788920" cy="27432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93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093670"/>
                </a:solidFill>
                <a:latin typeface="Arial"/>
              </a:defRPr>
            </a:pPr>
            <a:r>
              <a:t>What is missing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A single nested model representation.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Token-level precision decisions during inference.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A low-overhead kernel path that fetches only needed bits.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5806440"/>
            <a:ext cx="6492240" cy="438912"/>
          </a:xfrm>
          <a:prstGeom prst="roundRect">
            <a:avLst/>
          </a:prstGeom>
          <a:solidFill>
            <a:srgbClr val="F2E084"/>
          </a:solidFill>
          <a:ln>
            <a:solidFill>
              <a:srgbClr val="F2E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400" b="1">
                <a:solidFill>
                  <a:srgbClr val="093670"/>
                </a:solidFill>
                <a:latin typeface="Arial"/>
              </a:defRPr>
            </a:pPr>
            <a:r>
              <a:t>MoBiQuant frames precision as a token-level runtime resource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7479792"/>
            <a:ext cx="859536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0">
                <a:solidFill>
                  <a:srgbClr val="5A5A5A"/>
                </a:solidFill>
                <a:latin typeface="Arial"/>
              </a:defRPr>
            </a:pPr>
            <a:r>
              <a:t>Source: Wang et al., MoBiQuant, arXiv:2602.20191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00048" y="7571231"/>
            <a:ext cx="3840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0">
                <a:solidFill>
                  <a:srgbClr val="09367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DeckTitle"/>
          <p:cNvSpPr txBox="1"/>
          <p:nvPr/>
        </p:nvSpPr>
        <p:spPr>
          <a:xfrm>
            <a:off x="1078992" y="768096"/>
            <a:ext cx="8869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0">
                <a:solidFill>
                  <a:srgbClr val="000000"/>
                </a:solidFill>
                <a:latin typeface="Arial"/>
              </a:defRPr>
            </a:pPr>
            <a:r>
              <a:t>Core Observation: Outlier 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828800"/>
            <a:ext cx="8549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700" b="1">
                <a:solidFill>
                  <a:srgbClr val="093670"/>
                </a:solidFill>
                <a:latin typeface="Arial"/>
              </a:defRPr>
            </a:pPr>
            <a:r>
              <a:t>The tokens that dominate quantization error move when the bit-width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2423160"/>
            <a:ext cx="420624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8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D84862"/>
                </a:solidFill>
                <a:latin typeface="Arial"/>
              </a:defRPr>
            </a:pPr>
            <a:r>
              <a:t>Why static calibration fails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Calibration parameters overfit the outlier distribution of one bit-width.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A token well-fitted at 4-bit can become an outlier at 3-bit.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04688" y="2423160"/>
            <a:ext cx="425196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2F7D32"/>
                </a:solidFill>
                <a:latin typeface="Arial"/>
              </a:defRPr>
            </a:pPr>
            <a:r>
              <a:t>What MoBiQuant exploits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Token sensitivity can guide per-token bit allocation.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Routing high-sensitivity tokens through more bit slices improves generalization.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59352"/>
            <a:ext cx="384048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Arial"/>
              </a:defRPr>
            </a:pPr>
            <a:r>
              <a:t>LLaMA3-8B / WikiText2 PPL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631090"/>
            <a:ext cx="457200" cy="1952589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4722530"/>
            <a:ext cx="566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10.06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66568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3b-&gt;4b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9112" y="4834890"/>
            <a:ext cx="457200" cy="1748790"/>
          </a:xfrm>
          <a:prstGeom prst="rect">
            <a:avLst/>
          </a:prstGeom>
          <a:solidFill>
            <a:srgbClr val="CD60C9"/>
          </a:solidFill>
          <a:ln>
            <a:solidFill>
              <a:srgbClr val="CD6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4248" y="4926329"/>
            <a:ext cx="566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9.01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7943" y="66568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retain 10%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3784" y="5145440"/>
            <a:ext cx="457200" cy="1438239"/>
          </a:xfrm>
          <a:prstGeom prst="rect">
            <a:avLst/>
          </a:prstGeom>
          <a:solidFill>
            <a:srgbClr val="D84862"/>
          </a:solidFill>
          <a:ln>
            <a:solidFill>
              <a:srgbClr val="D8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5236880"/>
            <a:ext cx="566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7.41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2616" y="66568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4b-&gt;4b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48456" y="5164850"/>
            <a:ext cx="457200" cy="1418829"/>
          </a:xfrm>
          <a:prstGeom prst="rect">
            <a:avLst/>
          </a:prstGeom>
          <a:solidFill>
            <a:srgbClr val="F27A2E"/>
          </a:solidFill>
          <a:ln>
            <a:solidFill>
              <a:srgbClr val="F2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93592" y="5256290"/>
            <a:ext cx="566928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7.31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6656832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MoBiQ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88720" y="6583680"/>
            <a:ext cx="33375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188720" y="4389120"/>
            <a:ext cx="0" cy="21945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020824" y="4754880"/>
            <a:ext cx="868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2.65 PPL gap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79192" y="4937760"/>
            <a:ext cx="612648" cy="640080"/>
          </a:xfrm>
          <a:prstGeom prst="line">
            <a:avLst/>
          </a:prstGeom>
          <a:ln w="17780">
            <a:solidFill>
              <a:srgbClr val="D84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715000" y="3959352"/>
            <a:ext cx="39319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050" b="1">
                <a:solidFill>
                  <a:srgbClr val="000000"/>
                </a:solidFill>
                <a:latin typeface="Arial"/>
              </a:defRPr>
            </a:pPr>
            <a:r>
              <a:t>Token-wise error peaks shift across precision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4297680"/>
            <a:ext cx="379476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79592" y="5925312"/>
            <a:ext cx="54864" cy="32004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52744" y="5879592"/>
            <a:ext cx="54864" cy="36576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71616" y="5605272"/>
            <a:ext cx="54864" cy="6400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4768" y="5952744"/>
            <a:ext cx="54864" cy="292608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833872"/>
            <a:ext cx="54864" cy="41148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36792" y="4736592"/>
            <a:ext cx="54864" cy="150876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5664" y="4828032"/>
            <a:ext cx="54864" cy="141732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28816" y="5897880"/>
            <a:ext cx="54864" cy="347472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47688" y="5879592"/>
            <a:ext cx="54864" cy="36576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5605272"/>
            <a:ext cx="54864" cy="64008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39712" y="5989320"/>
            <a:ext cx="54864" cy="2560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12864" y="5925312"/>
            <a:ext cx="54864" cy="32004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31736" y="5422392"/>
            <a:ext cx="54864" cy="82296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04888" y="5971032"/>
            <a:ext cx="54864" cy="27432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23759" y="5952744"/>
            <a:ext cx="54864" cy="29260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96912" y="4462272"/>
            <a:ext cx="54864" cy="178308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15783" y="5788152"/>
            <a:ext cx="54864" cy="45720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88936" y="5916168"/>
            <a:ext cx="54864" cy="329184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07808" y="5861304"/>
            <a:ext cx="54864" cy="38404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80960" y="5806440"/>
            <a:ext cx="54864" cy="438912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99831" y="4553712"/>
            <a:ext cx="54864" cy="169164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72983" y="5925312"/>
            <a:ext cx="54864" cy="32004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91856" y="5916168"/>
            <a:ext cx="54864" cy="329184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65008" y="4946904"/>
            <a:ext cx="54864" cy="1298448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83879" y="5769864"/>
            <a:ext cx="54864" cy="475488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57031" y="5943600"/>
            <a:ext cx="54864" cy="301752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75904" y="5879592"/>
            <a:ext cx="54864" cy="36576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49056" y="5559552"/>
            <a:ext cx="54864" cy="68580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67928" y="5102352"/>
            <a:ext cx="54864" cy="1143000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41080" y="5843016"/>
            <a:ext cx="54864" cy="402336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759952" y="5961888"/>
            <a:ext cx="54864" cy="283464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33104" y="4690872"/>
            <a:ext cx="54864" cy="1554480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51976" y="5806440"/>
            <a:ext cx="54864" cy="43891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25128" y="5934456"/>
            <a:ext cx="54864" cy="310896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144000" y="5897880"/>
            <a:ext cx="54864" cy="34747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17152" y="5861304"/>
            <a:ext cx="54864" cy="384048"/>
          </a:xfrm>
          <a:prstGeom prst="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989320" y="6492240"/>
            <a:ext cx="960120" cy="256032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4-bit errors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86600" y="6492240"/>
            <a:ext cx="960120" cy="256032"/>
          </a:xfrm>
          <a:prstGeom prst="round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3-bit errors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48471" y="6492240"/>
            <a:ext cx="914400" cy="256032"/>
          </a:xfrm>
          <a:prstGeom prst="roundRect">
            <a:avLst/>
          </a:prstGeom>
          <a:solidFill>
            <a:srgbClr val="D84862"/>
          </a:solidFill>
          <a:ln>
            <a:solidFill>
              <a:srgbClr val="D8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low overlap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78992" y="7479792"/>
            <a:ext cx="859536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0">
                <a:solidFill>
                  <a:srgbClr val="5A5A5A"/>
                </a:solidFill>
                <a:latin typeface="Arial"/>
              </a:defRPr>
            </a:pPr>
            <a:r>
              <a:t>Source: Wang et al., MoBiQuant, arXiv:2602.20191 (2026)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00048" y="7571231"/>
            <a:ext cx="3840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0">
                <a:solidFill>
                  <a:srgbClr val="09367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DeckTitle"/>
          <p:cNvSpPr txBox="1"/>
          <p:nvPr/>
        </p:nvSpPr>
        <p:spPr>
          <a:xfrm>
            <a:off x="1078992" y="768096"/>
            <a:ext cx="8869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0">
                <a:solidFill>
                  <a:srgbClr val="000000"/>
                </a:solidFill>
                <a:latin typeface="Arial"/>
              </a:defRPr>
            </a:pPr>
            <a:r>
              <a:t>Method: MoBiSlice and MoBiRoute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847088"/>
            <a:ext cx="868680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700" b="1">
                <a:solidFill>
                  <a:srgbClr val="093670"/>
                </a:solidFill>
                <a:latin typeface="Arial"/>
              </a:defRPr>
            </a:pPr>
            <a:r>
              <a:t>A single linear block becomes a routed mixture of residual bit slices.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2743200"/>
            <a:ext cx="1371600" cy="457200"/>
          </a:xfrm>
          <a:prstGeom prst="round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Input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2743200"/>
            <a:ext cx="1417320" cy="457200"/>
          </a:xfrm>
          <a:prstGeom prst="roundRect">
            <a:avLst/>
          </a:prstGeom>
          <a:solidFill>
            <a:srgbClr val="F27A2E"/>
          </a:solidFill>
          <a:ln>
            <a:solidFill>
              <a:srgbClr val="F2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MoBiRoute MLP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743200"/>
            <a:ext cx="1783080" cy="457200"/>
          </a:xfrm>
          <a:prstGeom prst="roundRect">
            <a:avLst/>
          </a:prstGeom>
          <a:solidFill>
            <a:srgbClr val="D84862"/>
          </a:solidFill>
          <a:ln>
            <a:solidFill>
              <a:srgbClr val="D8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Binary slice mask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2743200"/>
            <a:ext cx="2057400" cy="457200"/>
          </a:xfrm>
          <a:prstGeom prst="roundRect">
            <a:avLst/>
          </a:prstGeom>
          <a:solidFill>
            <a:srgbClr val="2F7D32"/>
          </a:solidFill>
          <a:ln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Active bit slices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42032" y="2971800"/>
            <a:ext cx="402336" cy="0"/>
          </a:xfrm>
          <a:prstGeom prst="line">
            <a:avLst/>
          </a:prstGeom>
          <a:ln w="20320">
            <a:solidFill>
              <a:srgbClr val="09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2971800"/>
            <a:ext cx="475488" cy="0"/>
          </a:xfrm>
          <a:prstGeom prst="line">
            <a:avLst/>
          </a:prstGeom>
          <a:ln w="20320">
            <a:solidFill>
              <a:srgbClr val="09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75120" y="2971800"/>
            <a:ext cx="521208" cy="0"/>
          </a:xfrm>
          <a:prstGeom prst="line">
            <a:avLst/>
          </a:prstGeom>
          <a:ln w="20320">
            <a:solidFill>
              <a:srgbClr val="093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261872" y="3429000"/>
            <a:ext cx="274320" cy="274320"/>
          </a:xfrm>
          <a:prstGeom prst="roundRect">
            <a:avLst/>
          </a:prstGeom>
          <a:solidFill>
            <a:srgbClr val="E2EFFF"/>
          </a:solidFill>
          <a:ln>
            <a:solidFill>
              <a:srgbClr val="E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00" b="1">
                <a:solidFill>
                  <a:srgbClr val="093670"/>
                </a:solidFill>
                <a:latin typeface="Arial"/>
              </a:defRPr>
            </a:pPr>
            <a:r>
              <a:t>x1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09343" y="3429000"/>
            <a:ext cx="274320" cy="274320"/>
          </a:xfrm>
          <a:prstGeom prst="roundRect">
            <a:avLst/>
          </a:prstGeom>
          <a:solidFill>
            <a:srgbClr val="E2EFFF"/>
          </a:solidFill>
          <a:ln>
            <a:solidFill>
              <a:srgbClr val="E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00" b="1">
                <a:solidFill>
                  <a:srgbClr val="093670"/>
                </a:solidFill>
                <a:latin typeface="Arial"/>
              </a:defRPr>
            </a:pPr>
            <a:r>
              <a:t>x2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56815" y="3429000"/>
            <a:ext cx="274320" cy="274320"/>
          </a:xfrm>
          <a:prstGeom prst="roundRect">
            <a:avLst/>
          </a:prstGeom>
          <a:solidFill>
            <a:srgbClr val="E2EFFF"/>
          </a:solidFill>
          <a:ln>
            <a:solidFill>
              <a:srgbClr val="E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800" b="1">
                <a:solidFill>
                  <a:srgbClr val="093670"/>
                </a:solidFill>
                <a:latin typeface="Arial"/>
              </a:defRPr>
            </a:pPr>
            <a:r>
              <a:t>x3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401568"/>
            <a:ext cx="274320" cy="210312"/>
          </a:xfrm>
          <a:prstGeom prst="rect">
            <a:avLst/>
          </a:prstGeom>
          <a:solidFill>
            <a:srgbClr val="D8486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59" y="3401568"/>
            <a:ext cx="274320" cy="210312"/>
          </a:xfrm>
          <a:prstGeom prst="rect">
            <a:avLst/>
          </a:prstGeom>
          <a:solidFill>
            <a:srgbClr val="D8486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0" y="3401568"/>
            <a:ext cx="2743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401568"/>
            <a:ext cx="2743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3657600"/>
            <a:ext cx="274320" cy="210312"/>
          </a:xfrm>
          <a:prstGeom prst="rect">
            <a:avLst/>
          </a:prstGeom>
          <a:solidFill>
            <a:srgbClr val="D8486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94959" y="3657600"/>
            <a:ext cx="274320" cy="210312"/>
          </a:xfrm>
          <a:prstGeom prst="rect">
            <a:avLst/>
          </a:prstGeom>
          <a:solidFill>
            <a:srgbClr val="D8486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15000" y="3657600"/>
            <a:ext cx="274320" cy="210312"/>
          </a:xfrm>
          <a:prstGeom prst="rect">
            <a:avLst/>
          </a:prstGeom>
          <a:solidFill>
            <a:srgbClr val="D8486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3657600"/>
            <a:ext cx="2743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74920" y="3913632"/>
            <a:ext cx="274320" cy="210312"/>
          </a:xfrm>
          <a:prstGeom prst="rect">
            <a:avLst/>
          </a:prstGeom>
          <a:solidFill>
            <a:srgbClr val="D84862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94959" y="3913632"/>
            <a:ext cx="2743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15000" y="3913632"/>
            <a:ext cx="2743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3913632"/>
            <a:ext cx="2743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60920" y="3456432"/>
            <a:ext cx="914400" cy="310896"/>
          </a:xfrm>
          <a:prstGeom prst="rect">
            <a:avLst/>
          </a:prstGeom>
          <a:solidFill>
            <a:srgbClr val="5B9BD5"/>
          </a:solidFill>
          <a:ln>
            <a:solidFill>
              <a:srgbClr val="093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3493008"/>
            <a:ext cx="82296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W1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71816" y="3803904"/>
            <a:ext cx="914400" cy="310896"/>
          </a:xfrm>
          <a:prstGeom prst="rect">
            <a:avLst/>
          </a:prstGeom>
          <a:solidFill>
            <a:srgbClr val="F27A2E"/>
          </a:solidFill>
          <a:ln>
            <a:solidFill>
              <a:srgbClr val="093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3840480"/>
            <a:ext cx="82296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W2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82712" y="4151376"/>
            <a:ext cx="914400" cy="310896"/>
          </a:xfrm>
          <a:prstGeom prst="rect">
            <a:avLst/>
          </a:prstGeom>
          <a:solidFill>
            <a:srgbClr val="2F7D32"/>
          </a:solidFill>
          <a:ln>
            <a:solidFill>
              <a:srgbClr val="093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0144" y="4187952"/>
            <a:ext cx="82296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W3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93608" y="4498848"/>
            <a:ext cx="914400" cy="310896"/>
          </a:xfrm>
          <a:prstGeom prst="rect">
            <a:avLst/>
          </a:prstGeom>
          <a:solidFill>
            <a:srgbClr val="DCDCDC"/>
          </a:solidFill>
          <a:ln>
            <a:solidFill>
              <a:srgbClr val="093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535424"/>
            <a:ext cx="822960" cy="14630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850" b="1">
                <a:solidFill>
                  <a:srgbClr val="000000"/>
                </a:solidFill>
                <a:latin typeface="Arial"/>
              </a:defRPr>
            </a:pPr>
            <a:r>
              <a:t>W4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8992" y="4800600"/>
            <a:ext cx="278892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5B9BD5"/>
                </a:solidFill>
                <a:latin typeface="Arial"/>
              </a:defRPr>
            </a:pPr>
            <a:r>
              <a:t>MoBiSlice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Recursively quantizes residual weights into 2-bit slices.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Higher precision is reconstructed by summing more slices.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69080" y="4800600"/>
            <a:ext cx="278892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F27A2E"/>
                </a:solidFill>
                <a:latin typeface="Arial"/>
              </a:defRPr>
            </a:pPr>
            <a:r>
              <a:t>MoBiRoute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Scores token sensitivity and gates slices with binary decisions.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A threshold controls the target average bit budget.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9168" y="4800600"/>
            <a:ext cx="2788920" cy="15087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2F7D32"/>
                </a:solidFill>
                <a:latin typeface="Arial"/>
              </a:defRPr>
            </a:pPr>
            <a:r>
              <a:t>Kernel design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Bit-major packing fetches only active slices.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Shared scaling avoids extra per-precision parameters.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7479792"/>
            <a:ext cx="859536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0">
                <a:solidFill>
                  <a:srgbClr val="5A5A5A"/>
                </a:solidFill>
                <a:latin typeface="Arial"/>
              </a:defRPr>
            </a:pPr>
            <a:r>
              <a:t>Source: Wang et al., MoBiQuant, arXiv:2602.20191 (2026)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00048" y="7571231"/>
            <a:ext cx="3840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0">
                <a:solidFill>
                  <a:srgbClr val="09367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DeckTitle"/>
          <p:cNvSpPr txBox="1"/>
          <p:nvPr/>
        </p:nvSpPr>
        <p:spPr>
          <a:xfrm>
            <a:off x="1078992" y="768096"/>
            <a:ext cx="8869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100" b="0">
                <a:solidFill>
                  <a:srgbClr val="000000"/>
                </a:solidFill>
                <a:latin typeface="Arial"/>
              </a:defRPr>
            </a:pPr>
            <a:r>
              <a:t>Main Results and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847088"/>
            <a:ext cx="864108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1700" b="1">
                <a:solidFill>
                  <a:srgbClr val="093670"/>
                </a:solidFill>
                <a:latin typeface="Arial"/>
              </a:defRPr>
            </a:pPr>
            <a:r>
              <a:t>MoBiQuant keeps elasticity while approaching fixed-precision PTQ quality.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514600"/>
            <a:ext cx="41605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5B9BD5"/>
                </a:solidFill>
                <a:latin typeface="Arial"/>
              </a:defRPr>
            </a:pPr>
            <a:r>
              <a:t>Accuracy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Matches or surpasses static scalar PTQ across LLaMA2 and LLaMA3 model families.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At 2-3 bit, reduces severe PPL collapse versus prior any-precision baselines.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96128" y="2514600"/>
            <a:ext cx="41605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2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F27A2E"/>
                </a:solidFill>
                <a:latin typeface="Arial"/>
              </a:defRPr>
            </a:pPr>
            <a:r>
              <a:t>Throughput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Average decoding speedup: 33.8% over AnyPrecisionLLM.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Average decoding speedup: 22.8% over AnyBCQ.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4160520"/>
            <a:ext cx="41605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2F7D32"/>
                </a:solidFill>
                <a:latin typeface="Arial"/>
              </a:defRPr>
            </a:pPr>
            <a:r>
              <a:t>Memory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One nested model replaces multiple per-bit deployments.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Reported memory footprint reduction is up to 3.5x.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96128" y="4160520"/>
            <a:ext cx="41605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93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ctr">
              <a:defRPr sz="1600" b="1">
                <a:solidFill>
                  <a:srgbClr val="093670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The core win is not just storing more precisions.</a:t>
            </a:r>
          </a:p>
          <a:p>
            <a:pPr>
              <a:spcBef>
                <a:spcPts val="400"/>
              </a:spcBef>
              <a:defRPr sz="1260">
                <a:solidFill>
                  <a:srgbClr val="000000"/>
                </a:solidFill>
                <a:latin typeface="Arial"/>
              </a:defRPr>
            </a:pPr>
            <a:r>
              <a:t>The router mitigates outlier migration by assigning precision per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5989320"/>
            <a:ext cx="6675120" cy="502920"/>
          </a:xfrm>
          <a:prstGeom prst="roundRect">
            <a:avLst/>
          </a:prstGeom>
          <a:solidFill>
            <a:srgbClr val="F2E084"/>
          </a:solidFill>
          <a:ln>
            <a:solidFill>
              <a:srgbClr val="F2E0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/>
          <a:lstStyle/>
          <a:p>
            <a:pPr algn="ctr">
              <a:defRPr sz="1400" b="1">
                <a:solidFill>
                  <a:srgbClr val="093670"/>
                </a:solidFill>
                <a:latin typeface="Arial"/>
              </a:defRPr>
            </a:pPr>
            <a:r>
              <a:t>Takeaway: precision becomes a dynamic information budget at inference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7479792"/>
            <a:ext cx="859536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defRPr sz="850" b="0">
                <a:solidFill>
                  <a:srgbClr val="5A5A5A"/>
                </a:solidFill>
                <a:latin typeface="Arial"/>
              </a:defRPr>
            </a:pPr>
            <a:r>
              <a:t>Source: Wang et al., MoBiQuant, arXiv:2602.20191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00048" y="7571231"/>
            <a:ext cx="38404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defRPr sz="1000" b="0">
                <a:solidFill>
                  <a:srgbClr val="093670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83</Words>
  <Application>Microsoft Office PowerPoint</Application>
  <PresentationFormat>自訂</PresentationFormat>
  <Paragraphs>17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PT Serif</vt:lpstr>
      <vt:lpstr>Arial</vt:lpstr>
      <vt:lpstr>Calibri</vt:lpstr>
      <vt:lpstr>Office Theme</vt:lpstr>
      <vt:lpstr>[Title] [seminar]</vt:lpstr>
      <vt:lpstr>Outline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郭子維</dc:creator>
  <cp:lastModifiedBy>郭子維</cp:lastModifiedBy>
  <cp:revision>2</cp:revision>
  <dcterms:modified xsi:type="dcterms:W3CDTF">2026-05-27T21:18:23Z</dcterms:modified>
</cp:coreProperties>
</file>