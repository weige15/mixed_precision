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7" r:id="rId1"/>
  </p:sldMasterIdLst>
  <p:notesMasterIdLst>
    <p:notesMasterId r:id="rId5"/>
  </p:notesMasterIdLst>
  <p:sldIdLst>
    <p:sldId id="256" r:id="rId4"/>
    <p:sldId id="257" r:id="rId3"/>
    <p:sldId id="258" r:id="rId2"/>
    <p:sldId id="259" r:id="rId14"/>
  </p:sldIdLst>
  <p:sldSz cx="14630400" cy="8229600"/>
  <p:notesSz cx="8229600" cy="14630400"/>
  <p:embeddedFontLst>
    <p:embeddedFont>
      <p:font typeface="PT Serif" panose="020A0603040505020204" pitchFamily="18" charset="0"/>
      <p:regular r:id="rId6"/>
      <p:bold r:id="rId7"/>
      <p:italic r:id="rId8"/>
      <p:boldItalic r:id="rId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6" d="100"/>
          <a:sy n="56" d="100"/>
        </p:scale>
        <p:origin x="99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3.xml"/><Relationship Id="rId3" Type="http://schemas.openxmlformats.org/officeDocument/2006/relationships/slide" Target="slides/slid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font" Target="fonts/font1.fntdata"/><Relationship Id="rId7" Type="http://schemas.openxmlformats.org/officeDocument/2006/relationships/font" Target="fonts/font2.fntdata"/><Relationship Id="rId8" Type="http://schemas.openxmlformats.org/officeDocument/2006/relationships/font" Target="fonts/font3.fntdata"/><Relationship Id="rId9" Type="http://schemas.openxmlformats.org/officeDocument/2006/relationships/font" Target="fonts/font4.fntdata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/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/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/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/>
              <a:t>‹#›</a:t>
            </a:fld>
            <a:endParaRPr sz="1200" b="0" i="0" u="none" strike="noStrike" cap="none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1 master">
  <p:cSld name="Slide 1 master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2 master">
  <p:cSld name="Slide 2 mast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3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3 master">
  <p:cSld name="Slide 3 master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4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4 master">
  <p:cSld name="Slide 4 master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5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5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5 master">
  <p:cSld name="Slide 5 master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6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6 master">
  <p:cSld name="Slide 6 mast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7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7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7 master">
  <p:cSld name="Slide 7 mast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8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8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8 master">
  <p:cSld name="Slide 8 mast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9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9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9 master">
  <p:cSld name="Slide 9 master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1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10 master">
  <p:cSld name="Slide 10 master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1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11 master">
  <p:cSld name="Slide 11 master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2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12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12 master">
  <p:cSld name="Slide 12 master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3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13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13 master">
  <p:cSld name="Slide 13 master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4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14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14 master">
  <p:cSld name="Slide 14 master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5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15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15 master">
  <p:cSld name="Slide 15 master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6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6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" type="title">
  <p:cSld name="TITLE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8"/>
          <p:cNvSpPr/>
          <p:nvPr/>
        </p:nvSpPr>
        <p:spPr>
          <a:xfrm>
            <a:off x="0" y="6625883"/>
            <a:ext cx="14630400" cy="1603800"/>
          </a:xfrm>
          <a:prstGeom prst="rect">
            <a:avLst/>
          </a:prstGeom>
          <a:solidFill>
            <a:srgbClr val="052E6E"/>
          </a:solidFill>
          <a:ln w="1525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09700" tIns="54850" rIns="109700" bIns="548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2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18"/>
          <p:cNvSpPr/>
          <p:nvPr/>
        </p:nvSpPr>
        <p:spPr>
          <a:xfrm>
            <a:off x="12627499" y="6777787"/>
            <a:ext cx="2202600" cy="7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NYCU</a:t>
            </a:r>
            <a:endParaRPr sz="4200" b="1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9" name="Google Shape;59;p18"/>
          <p:cNvCxnSpPr/>
          <p:nvPr/>
        </p:nvCxnSpPr>
        <p:spPr>
          <a:xfrm>
            <a:off x="1828800" y="4040945"/>
            <a:ext cx="10972800" cy="0"/>
          </a:xfrm>
          <a:prstGeom prst="straightConnector1">
            <a:avLst/>
          </a:prstGeom>
          <a:noFill/>
          <a:ln w="68575" cap="flat" cmpd="sng">
            <a:solidFill>
              <a:srgbClr val="5B9BD5"/>
            </a:solidFill>
            <a:prstDash val="lgDash"/>
            <a:round/>
            <a:headEnd type="none" w="sm" len="sm"/>
            <a:tailEnd type="none" w="sm" len="sm"/>
          </a:ln>
        </p:spPr>
      </p:cxnSp>
      <p:sp>
        <p:nvSpPr>
          <p:cNvPr id="60" name="Google Shape;60;p18"/>
          <p:cNvSpPr txBox="1">
            <a:spLocks noGrp="1"/>
          </p:cNvSpPr>
          <p:nvPr>
            <p:ph type="ctrTitle"/>
          </p:nvPr>
        </p:nvSpPr>
        <p:spPr>
          <a:xfrm>
            <a:off x="1828800" y="712052"/>
            <a:ext cx="10972800" cy="279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Calibri"/>
              <a:buChar char="●"/>
              <a:defRPr sz="5400"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61" name="Google Shape;61;p18"/>
          <p:cNvSpPr txBox="1">
            <a:spLocks noGrp="1"/>
          </p:cNvSpPr>
          <p:nvPr>
            <p:ph type="subTitle" idx="1"/>
          </p:nvPr>
        </p:nvSpPr>
        <p:spPr>
          <a:xfrm>
            <a:off x="1828800" y="4845577"/>
            <a:ext cx="10972800" cy="159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900"/>
              <a:buNone/>
              <a:defRPr sz="2900">
                <a:latin typeface="Calibri"/>
                <a:ea typeface="Calibri"/>
                <a:cs typeface="Calibri"/>
                <a:sym typeface="Calibri"/>
              </a:defRPr>
            </a:lvl1pPr>
            <a:lvl2pPr lvl="1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2pPr>
            <a:lvl3pPr lvl="2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/>
            </a:lvl3pPr>
            <a:lvl4pPr lvl="3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 sz="1900"/>
            </a:lvl4pPr>
            <a:lvl5pPr lvl="4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 sz="1900"/>
            </a:lvl5pPr>
            <a:lvl6pPr lvl="5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 sz="1900"/>
            </a:lvl6pPr>
            <a:lvl7pPr lvl="6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 sz="1900"/>
            </a:lvl7pPr>
            <a:lvl8pPr lvl="7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 sz="1900"/>
            </a:lvl8pPr>
            <a:lvl9pPr lvl="8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 sz="1900"/>
            </a:lvl9pPr>
          </a:lstStyle>
          <a:p>
            <a:endParaRPr/>
          </a:p>
        </p:txBody>
      </p:sp>
      <p:sp>
        <p:nvSpPr>
          <p:cNvPr id="62" name="Google Shape;62;p18"/>
          <p:cNvSpPr txBox="1">
            <a:spLocks noGrp="1"/>
          </p:cNvSpPr>
          <p:nvPr>
            <p:ph type="dt" idx="10"/>
          </p:nvPr>
        </p:nvSpPr>
        <p:spPr>
          <a:xfrm>
            <a:off x="1005840" y="7627620"/>
            <a:ext cx="3291900" cy="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63" name="Google Shape;63;p18"/>
          <p:cNvSpPr txBox="1">
            <a:spLocks noGrp="1"/>
          </p:cNvSpPr>
          <p:nvPr>
            <p:ph type="ftr" idx="11"/>
          </p:nvPr>
        </p:nvSpPr>
        <p:spPr>
          <a:xfrm>
            <a:off x="4846320" y="7627620"/>
            <a:ext cx="4937700" cy="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64" name="Google Shape;64;p18"/>
          <p:cNvSpPr txBox="1">
            <a:spLocks noGrp="1"/>
          </p:cNvSpPr>
          <p:nvPr>
            <p:ph type="sldNum" idx="12"/>
          </p:nvPr>
        </p:nvSpPr>
        <p:spPr>
          <a:xfrm>
            <a:off x="11167264" y="7627544"/>
            <a:ext cx="3291900" cy="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65" name="Google Shape;65;p18"/>
          <p:cNvGrpSpPr/>
          <p:nvPr/>
        </p:nvGrpSpPr>
        <p:grpSpPr>
          <a:xfrm>
            <a:off x="12816184" y="163830"/>
            <a:ext cx="1825200" cy="1576685"/>
            <a:chOff x="10680153" y="136525"/>
            <a:chExt cx="1521000" cy="1313904"/>
          </a:xfrm>
        </p:grpSpPr>
        <p:pic>
          <p:nvPicPr>
            <p:cNvPr id="66" name="Google Shape;66;p18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10832124" y="136525"/>
              <a:ext cx="1217128" cy="91370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7" name="Google Shape;67;p18"/>
            <p:cNvSpPr/>
            <p:nvPr/>
          </p:nvSpPr>
          <p:spPr>
            <a:xfrm>
              <a:off x="10680153" y="1050229"/>
              <a:ext cx="15210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9700" tIns="54850" rIns="109700" bIns="5485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b="0" i="0" u="none" strike="noStrike" cap="none">
                  <a:solidFill>
                    <a:srgbClr val="052E6E"/>
                  </a:solidFill>
                  <a:latin typeface="Calibri"/>
                  <a:ea typeface="Calibri"/>
                  <a:cs typeface="Calibri"/>
                  <a:sym typeface="Calibri"/>
                </a:rPr>
                <a:t>BASIC LAB</a:t>
              </a:r>
              <a:endParaRPr sz="2400" b="0" i="0" u="none" strike="noStrike" cap="none">
                <a:solidFill>
                  <a:srgbClr val="052E6E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8" name="Google Shape;68;p18"/>
          <p:cNvSpPr/>
          <p:nvPr/>
        </p:nvSpPr>
        <p:spPr>
          <a:xfrm>
            <a:off x="11242102" y="3534383"/>
            <a:ext cx="1044300" cy="1044300"/>
          </a:xfrm>
          <a:prstGeom prst="ellipse">
            <a:avLst/>
          </a:prstGeom>
          <a:solidFill>
            <a:srgbClr val="F0DF88"/>
          </a:solidFill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2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18"/>
          <p:cNvSpPr/>
          <p:nvPr/>
        </p:nvSpPr>
        <p:spPr>
          <a:xfrm>
            <a:off x="14151502" y="7686821"/>
            <a:ext cx="319800" cy="3198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" type="obj">
  <p:cSld name="OBJECT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71;p1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5371702"/>
            <a:ext cx="2857898" cy="2857898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9"/>
          <p:cNvSpPr/>
          <p:nvPr/>
        </p:nvSpPr>
        <p:spPr>
          <a:xfrm>
            <a:off x="10332720" y="0"/>
            <a:ext cx="4297800" cy="8229600"/>
          </a:xfrm>
          <a:prstGeom prst="rect">
            <a:avLst/>
          </a:prstGeom>
          <a:solidFill>
            <a:srgbClr val="052E6E"/>
          </a:solidFill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2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19"/>
          <p:cNvSpPr/>
          <p:nvPr/>
        </p:nvSpPr>
        <p:spPr>
          <a:xfrm>
            <a:off x="10278907" y="7308256"/>
            <a:ext cx="2202600" cy="7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NYCU</a:t>
            </a:r>
            <a:endParaRPr sz="42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19"/>
          <p:cNvSpPr txBox="1">
            <a:spLocks noGrp="1"/>
          </p:cNvSpPr>
          <p:nvPr>
            <p:ph type="title"/>
          </p:nvPr>
        </p:nvSpPr>
        <p:spPr>
          <a:xfrm>
            <a:off x="1005840" y="438150"/>
            <a:ext cx="8778300" cy="159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Calibri"/>
              <a:buChar char="●"/>
              <a:defRPr sz="5400"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75" name="Google Shape;75;p19"/>
          <p:cNvSpPr txBox="1">
            <a:spLocks noGrp="1"/>
          </p:cNvSpPr>
          <p:nvPr>
            <p:ph type="body" idx="1"/>
          </p:nvPr>
        </p:nvSpPr>
        <p:spPr>
          <a:xfrm>
            <a:off x="1005840" y="2774852"/>
            <a:ext cx="8778300" cy="46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t" anchorCtr="0">
            <a:normAutofit/>
          </a:bodyPr>
          <a:lstStyle>
            <a:lvl1pPr marL="457200" lvl="0" indent="-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sz="3600"/>
            </a:lvl1pPr>
            <a:lvl2pPr marL="914400" lvl="1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○"/>
              <a:defRPr sz="1700"/>
            </a:lvl2pPr>
            <a:lvl3pPr marL="1371600" lvl="2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■"/>
              <a:defRPr sz="1700"/>
            </a:lvl3pPr>
            <a:lvl4pPr marL="1828800" lvl="3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●"/>
              <a:defRPr sz="1700"/>
            </a:lvl4pPr>
            <a:lvl5pPr marL="2286000" lvl="4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○"/>
              <a:defRPr sz="1700"/>
            </a:lvl5pPr>
            <a:lvl6pPr marL="2743200" lvl="5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■"/>
              <a:defRPr sz="1700"/>
            </a:lvl6pPr>
            <a:lvl7pPr marL="3200400" lvl="6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●"/>
              <a:defRPr sz="1700"/>
            </a:lvl7pPr>
            <a:lvl8pPr marL="3657600" lvl="7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○"/>
              <a:defRPr sz="1700"/>
            </a:lvl8pPr>
            <a:lvl9pPr marL="4114800" lvl="8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■"/>
              <a:defRPr sz="1700"/>
            </a:lvl9pPr>
          </a:lstStyle>
          <a:p>
            <a:endParaRPr/>
          </a:p>
        </p:txBody>
      </p:sp>
      <p:sp>
        <p:nvSpPr>
          <p:cNvPr id="76" name="Google Shape;76;p19"/>
          <p:cNvSpPr txBox="1">
            <a:spLocks noGrp="1"/>
          </p:cNvSpPr>
          <p:nvPr>
            <p:ph type="dt" idx="10"/>
          </p:nvPr>
        </p:nvSpPr>
        <p:spPr>
          <a:xfrm>
            <a:off x="1005840" y="7627620"/>
            <a:ext cx="3291900" cy="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77" name="Google Shape;77;p19"/>
          <p:cNvSpPr txBox="1">
            <a:spLocks noGrp="1"/>
          </p:cNvSpPr>
          <p:nvPr>
            <p:ph type="ftr" idx="11"/>
          </p:nvPr>
        </p:nvSpPr>
        <p:spPr>
          <a:xfrm>
            <a:off x="4846320" y="7627620"/>
            <a:ext cx="4937700" cy="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78" name="Google Shape;78;p19"/>
          <p:cNvSpPr txBox="1">
            <a:spLocks noGrp="1"/>
          </p:cNvSpPr>
          <p:nvPr>
            <p:ph type="sldNum" idx="12"/>
          </p:nvPr>
        </p:nvSpPr>
        <p:spPr>
          <a:xfrm>
            <a:off x="11170264" y="7627546"/>
            <a:ext cx="3291900" cy="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79" name="Google Shape;79;p19"/>
          <p:cNvGrpSpPr/>
          <p:nvPr/>
        </p:nvGrpSpPr>
        <p:grpSpPr>
          <a:xfrm>
            <a:off x="12816184" y="163830"/>
            <a:ext cx="1825200" cy="1576685"/>
            <a:chOff x="10680153" y="136525"/>
            <a:chExt cx="1521000" cy="1313904"/>
          </a:xfrm>
        </p:grpSpPr>
        <p:pic>
          <p:nvPicPr>
            <p:cNvPr id="80" name="Google Shape;80;p19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0832124" y="136525"/>
              <a:ext cx="1217128" cy="91370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81" name="Google Shape;81;p19"/>
            <p:cNvSpPr/>
            <p:nvPr/>
          </p:nvSpPr>
          <p:spPr>
            <a:xfrm>
              <a:off x="10680153" y="1050229"/>
              <a:ext cx="15210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9700" tIns="54850" rIns="109700" bIns="5485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BASIC LAB</a:t>
              </a:r>
              <a:endParaRPr sz="2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82" name="Google Shape;82;p19"/>
          <p:cNvCxnSpPr/>
          <p:nvPr/>
        </p:nvCxnSpPr>
        <p:spPr>
          <a:xfrm>
            <a:off x="1005840" y="2267536"/>
            <a:ext cx="5725500" cy="0"/>
          </a:xfrm>
          <a:prstGeom prst="straightConnector1">
            <a:avLst/>
          </a:prstGeom>
          <a:noFill/>
          <a:ln w="68575" cap="flat" cmpd="sng">
            <a:solidFill>
              <a:schemeClr val="accent5"/>
            </a:solidFill>
            <a:prstDash val="lgDash"/>
            <a:round/>
            <a:headEnd type="none" w="sm" len="sm"/>
            <a:tailEnd type="none" w="sm" len="sm"/>
          </a:ln>
        </p:spPr>
      </p:cxnSp>
      <p:sp>
        <p:nvSpPr>
          <p:cNvPr id="83" name="Google Shape;83;p19"/>
          <p:cNvSpPr/>
          <p:nvPr/>
        </p:nvSpPr>
        <p:spPr>
          <a:xfrm>
            <a:off x="14151502" y="7686821"/>
            <a:ext cx="319800" cy="3198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" type="titleOnly">
  <p:cSld name="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Google Shape;85;p20"/>
          <p:cNvGrpSpPr/>
          <p:nvPr/>
        </p:nvGrpSpPr>
        <p:grpSpPr>
          <a:xfrm>
            <a:off x="11772502" y="2567376"/>
            <a:ext cx="2857898" cy="5662224"/>
            <a:chOff x="9810418" y="2139480"/>
            <a:chExt cx="2381582" cy="4718520"/>
          </a:xfrm>
        </p:grpSpPr>
        <p:pic>
          <p:nvPicPr>
            <p:cNvPr id="86" name="Google Shape;86;p20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 rot="10800000">
              <a:off x="9810418" y="4476418"/>
              <a:ext cx="2381582" cy="238158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7" name="Google Shape;87;p20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 rot="-5400000">
              <a:off x="9810418" y="2139480"/>
              <a:ext cx="2381582" cy="2381582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88" name="Google Shape;88;p20"/>
          <p:cNvSpPr/>
          <p:nvPr/>
        </p:nvSpPr>
        <p:spPr>
          <a:xfrm>
            <a:off x="0" y="0"/>
            <a:ext cx="730800" cy="8303400"/>
          </a:xfrm>
          <a:prstGeom prst="rect">
            <a:avLst/>
          </a:prstGeom>
          <a:solidFill>
            <a:srgbClr val="052E6E"/>
          </a:solidFill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2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20"/>
          <p:cNvSpPr/>
          <p:nvPr/>
        </p:nvSpPr>
        <p:spPr>
          <a:xfrm rot="2452991">
            <a:off x="12187960" y="6698831"/>
            <a:ext cx="2202647" cy="757132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0" i="0">
                <a:ln>
                  <a:noFill/>
                </a:ln>
                <a:solidFill>
                  <a:srgbClr val="052E6E"/>
                </a:solidFill>
                <a:latin typeface="Calibri"/>
              </a:rPr>
              <a:t>NYCU</a:t>
            </a:r>
          </a:p>
        </p:txBody>
      </p:sp>
      <p:cxnSp>
        <p:nvCxnSpPr>
          <p:cNvPr id="90" name="Google Shape;90;p20"/>
          <p:cNvCxnSpPr/>
          <p:nvPr/>
        </p:nvCxnSpPr>
        <p:spPr>
          <a:xfrm>
            <a:off x="10171458" y="2028826"/>
            <a:ext cx="4470000" cy="0"/>
          </a:xfrm>
          <a:prstGeom prst="straightConnector1">
            <a:avLst/>
          </a:prstGeom>
          <a:noFill/>
          <a:ln w="68575" cap="flat" cmpd="sng">
            <a:solidFill>
              <a:schemeClr val="accent5"/>
            </a:solidFill>
            <a:prstDash val="lgDash"/>
            <a:round/>
            <a:headEnd type="none" w="sm" len="sm"/>
            <a:tailEnd type="none" w="sm" len="sm"/>
          </a:ln>
        </p:spPr>
      </p:cxnSp>
      <p:sp>
        <p:nvSpPr>
          <p:cNvPr id="91" name="Google Shape;91;p20"/>
          <p:cNvSpPr txBox="1">
            <a:spLocks noGrp="1"/>
          </p:cNvSpPr>
          <p:nvPr>
            <p:ph type="title"/>
          </p:nvPr>
        </p:nvSpPr>
        <p:spPr>
          <a:xfrm>
            <a:off x="1005840" y="438150"/>
            <a:ext cx="11707800" cy="159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Calibri"/>
              <a:buChar char="●"/>
              <a:defRPr sz="5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92" name="Google Shape;92;p20"/>
          <p:cNvSpPr txBox="1">
            <a:spLocks noGrp="1"/>
          </p:cNvSpPr>
          <p:nvPr>
            <p:ph type="dt" idx="10"/>
          </p:nvPr>
        </p:nvSpPr>
        <p:spPr>
          <a:xfrm>
            <a:off x="1005840" y="7627620"/>
            <a:ext cx="3291900" cy="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93" name="Google Shape;93;p20"/>
          <p:cNvSpPr txBox="1">
            <a:spLocks noGrp="1"/>
          </p:cNvSpPr>
          <p:nvPr>
            <p:ph type="ftr" idx="11"/>
          </p:nvPr>
        </p:nvSpPr>
        <p:spPr>
          <a:xfrm>
            <a:off x="4846320" y="7627620"/>
            <a:ext cx="4937700" cy="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94" name="Google Shape;94;p20"/>
          <p:cNvSpPr txBox="1">
            <a:spLocks noGrp="1"/>
          </p:cNvSpPr>
          <p:nvPr>
            <p:ph type="sldNum" idx="12"/>
          </p:nvPr>
        </p:nvSpPr>
        <p:spPr>
          <a:xfrm>
            <a:off x="11170264" y="7627620"/>
            <a:ext cx="3291900" cy="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95" name="Google Shape;95;p20"/>
          <p:cNvGrpSpPr/>
          <p:nvPr/>
        </p:nvGrpSpPr>
        <p:grpSpPr>
          <a:xfrm>
            <a:off x="12816184" y="163830"/>
            <a:ext cx="1825200" cy="1576685"/>
            <a:chOff x="10680153" y="136525"/>
            <a:chExt cx="1521000" cy="1313904"/>
          </a:xfrm>
        </p:grpSpPr>
        <p:pic>
          <p:nvPicPr>
            <p:cNvPr id="96" name="Google Shape;96;p20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0832124" y="136525"/>
              <a:ext cx="1217128" cy="91370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7" name="Google Shape;97;p20"/>
            <p:cNvSpPr/>
            <p:nvPr/>
          </p:nvSpPr>
          <p:spPr>
            <a:xfrm>
              <a:off x="10680153" y="1050229"/>
              <a:ext cx="15210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9700" tIns="54850" rIns="109700" bIns="5485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b="0" i="0" u="none" strike="noStrike" cap="none">
                  <a:solidFill>
                    <a:srgbClr val="052E6E"/>
                  </a:solidFill>
                  <a:latin typeface="Calibri"/>
                  <a:ea typeface="Calibri"/>
                  <a:cs typeface="Calibri"/>
                  <a:sym typeface="Calibri"/>
                </a:rPr>
                <a:t>BASIC LAB</a:t>
              </a:r>
              <a:endParaRPr sz="2400" b="0" i="0" u="none" strike="noStrike" cap="none">
                <a:solidFill>
                  <a:srgbClr val="052E6E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8" name="Google Shape;98;p20"/>
          <p:cNvSpPr/>
          <p:nvPr/>
        </p:nvSpPr>
        <p:spPr>
          <a:xfrm>
            <a:off x="14151502" y="7686821"/>
            <a:ext cx="319800" cy="3198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056844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8" r:id="rId1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  <a:defRPr sz="3100" b="0">
                <a:solidFill>
                  <a:srgbClr val="000000"/>
                </a:solidFill>
                <a:latin typeface="Arial"/>
              </a:defRPr>
            </a:pPr>
            <a:r>
              <a:t>MoBiQuant: Problem Setting and Research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1847088"/>
            <a:ext cx="8595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defRPr sz="1700" b="1">
                <a:solidFill>
                  <a:srgbClr val="093670"/>
                </a:solidFill>
                <a:latin typeface="Arial"/>
              </a:defRPr>
            </a:pPr>
            <a:r>
              <a:t>Goal: adapt one quantized LLM to changing latency and memory budgets.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8992" y="2487168"/>
            <a:ext cx="2788920" cy="27432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 tIns="109728" bIns="73152"/>
          <a:lstStyle/>
          <a:p>
            <a:pPr algn="ctr">
              <a:defRPr sz="1600" b="1">
                <a:solidFill>
                  <a:srgbClr val="5B9BD5"/>
                </a:solidFill>
                <a:latin typeface="Arial"/>
              </a:defRPr>
            </a:pPr>
            <a:r>
              <a:t>Past research: static PTQ</a:t>
            </a:r>
          </a:p>
          <a:p>
            <a:pPr>
              <a:spcBef>
                <a:spcPts val="400"/>
              </a:spcBef>
              <a:defRPr sz="1260">
                <a:solidFill>
                  <a:srgbClr val="000000"/>
                </a:solidFill>
                <a:latin typeface="Arial"/>
              </a:defRPr>
            </a:pPr>
            <a:r>
              <a:t>GPTQ, OmniQuant, SmoothQuant, AWQ tune one target bit-width.</a:t>
            </a:r>
          </a:p>
          <a:p>
            <a:pPr>
              <a:spcBef>
                <a:spcPts val="400"/>
              </a:spcBef>
              <a:defRPr sz="1260">
                <a:solidFill>
                  <a:srgbClr val="000000"/>
                </a:solidFill>
                <a:latin typeface="Arial"/>
              </a:defRPr>
            </a:pPr>
            <a:r>
              <a:t>They optimize fixed-precision quality, not runtime elasticity.</a:t>
            </a:r>
          </a:p>
          <a:p>
            <a:pPr>
              <a:spcBef>
                <a:spcPts val="400"/>
              </a:spcBef>
              <a:defRPr sz="1260">
                <a:solidFill>
                  <a:srgbClr val="000000"/>
                </a:solidFill>
                <a:latin typeface="Arial"/>
              </a:defRPr>
            </a:pPr>
            <a:r>
              <a:t>Changing bit-width usually requires recalibration or quality loss.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69080" y="2487168"/>
            <a:ext cx="2788920" cy="27432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F27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 tIns="109728" bIns="73152"/>
          <a:lstStyle/>
          <a:p>
            <a:pPr algn="ctr">
              <a:defRPr sz="1600" b="1">
                <a:solidFill>
                  <a:srgbClr val="F27A2E"/>
                </a:solidFill>
                <a:latin typeface="Arial"/>
              </a:defRPr>
            </a:pPr>
            <a:r>
              <a:t>Past research: any-precision</a:t>
            </a:r>
          </a:p>
          <a:p>
            <a:pPr>
              <a:spcBef>
                <a:spcPts val="400"/>
              </a:spcBef>
              <a:defRPr sz="1260">
                <a:solidFill>
                  <a:srgbClr val="000000"/>
                </a:solidFill>
                <a:latin typeface="Arial"/>
              </a:defRPr>
            </a:pPr>
            <a:r>
              <a:t>AnyPrecisionLLM, AnyBCQ, MatQuant support multiple precisions.</a:t>
            </a:r>
          </a:p>
          <a:p>
            <a:pPr>
              <a:spcBef>
                <a:spcPts val="400"/>
              </a:spcBef>
              <a:defRPr sz="1260">
                <a:solidFill>
                  <a:srgbClr val="000000"/>
                </a:solidFill>
                <a:latin typeface="Arial"/>
              </a:defRPr>
            </a:pPr>
            <a:r>
              <a:t>But they add scaling, repacking, table lookups, or kernel overhead.</a:t>
            </a:r>
          </a:p>
          <a:p>
            <a:pPr>
              <a:spcBef>
                <a:spcPts val="400"/>
              </a:spcBef>
              <a:defRPr sz="1260">
                <a:solidFill>
                  <a:srgbClr val="000000"/>
                </a:solidFill>
                <a:latin typeface="Arial"/>
              </a:defRPr>
            </a:pPr>
            <a:r>
              <a:t>Switching precision is not yet cheap at token granularity.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59168" y="2487168"/>
            <a:ext cx="2788920" cy="27432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936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 tIns="109728" bIns="73152"/>
          <a:lstStyle/>
          <a:p>
            <a:pPr algn="ctr">
              <a:defRPr sz="1600" b="1">
                <a:solidFill>
                  <a:srgbClr val="093670"/>
                </a:solidFill>
                <a:latin typeface="Arial"/>
              </a:defRPr>
            </a:pPr>
            <a:r>
              <a:t>What is missing</a:t>
            </a:r>
          </a:p>
          <a:p>
            <a:pPr>
              <a:spcBef>
                <a:spcPts val="400"/>
              </a:spcBef>
              <a:defRPr sz="1260">
                <a:solidFill>
                  <a:srgbClr val="000000"/>
                </a:solidFill>
                <a:latin typeface="Arial"/>
              </a:defRPr>
            </a:pPr>
            <a:r>
              <a:t>A single nested model representation.</a:t>
            </a:r>
          </a:p>
          <a:p>
            <a:pPr>
              <a:spcBef>
                <a:spcPts val="400"/>
              </a:spcBef>
              <a:defRPr sz="1260">
                <a:solidFill>
                  <a:srgbClr val="000000"/>
                </a:solidFill>
                <a:latin typeface="Arial"/>
              </a:defRPr>
            </a:pPr>
            <a:r>
              <a:t>Token-level precision decisions during inference.</a:t>
            </a:r>
          </a:p>
          <a:p>
            <a:pPr>
              <a:spcBef>
                <a:spcPts val="400"/>
              </a:spcBef>
              <a:defRPr sz="1260">
                <a:solidFill>
                  <a:srgbClr val="000000"/>
                </a:solidFill>
                <a:latin typeface="Arial"/>
              </a:defRPr>
            </a:pPr>
            <a:r>
              <a:t>A low-overhead kernel path that fetches only needed bits.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40280" y="5806440"/>
            <a:ext cx="6492240" cy="438912"/>
          </a:xfrm>
          <a:prstGeom prst="roundRect">
            <a:avLst/>
          </a:prstGeom>
          <a:solidFill>
            <a:srgbClr val="F2E084"/>
          </a:solidFill>
          <a:ln>
            <a:solidFill>
              <a:srgbClr val="F2E0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/>
          <a:lstStyle/>
          <a:p>
            <a:pPr algn="ctr">
              <a:defRPr sz="1400" b="1">
                <a:solidFill>
                  <a:srgbClr val="093670"/>
                </a:solidFill>
                <a:latin typeface="Arial"/>
              </a:defRPr>
            </a:pPr>
            <a:r>
              <a:t>MoBiQuant frames precision as a token-level runtime resource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7479792"/>
            <a:ext cx="8595360" cy="2377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defRPr sz="850" b="0">
                <a:solidFill>
                  <a:srgbClr val="5A5A5A"/>
                </a:solidFill>
                <a:latin typeface="Arial"/>
              </a:defRPr>
            </a:pPr>
            <a:r>
              <a:t>Source: Wang et al., MoBiQuant, arXiv:2602.20191 (2026)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00048" y="7571231"/>
            <a:ext cx="384048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defRPr sz="1000" b="0">
                <a:solidFill>
                  <a:srgbClr val="093670"/>
                </a:solidFill>
                <a:latin typeface="Arial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  <a:defRPr sz="3100" b="0">
                <a:solidFill>
                  <a:srgbClr val="000000"/>
                </a:solidFill>
                <a:latin typeface="Arial"/>
              </a:defRPr>
            </a:pPr>
            <a:r>
              <a:t>Core Observation: Outlier Migration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1828800"/>
            <a:ext cx="8549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defRPr sz="1700" b="1">
                <a:solidFill>
                  <a:srgbClr val="093670"/>
                </a:solidFill>
                <a:latin typeface="Arial"/>
              </a:defRPr>
            </a:pPr>
            <a:r>
              <a:t>The tokens that dominate quantization error move when the bit-width changes.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8992" y="2423160"/>
            <a:ext cx="4206240" cy="12344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D8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 tIns="109728" bIns="73152"/>
          <a:lstStyle/>
          <a:p>
            <a:pPr algn="ctr">
              <a:defRPr sz="1600" b="1">
                <a:solidFill>
                  <a:srgbClr val="D84862"/>
                </a:solidFill>
                <a:latin typeface="Arial"/>
              </a:defRPr>
            </a:pPr>
            <a:r>
              <a:t>Why static calibration fails</a:t>
            </a:r>
          </a:p>
          <a:p>
            <a:pPr>
              <a:spcBef>
                <a:spcPts val="400"/>
              </a:spcBef>
              <a:defRPr sz="1260">
                <a:solidFill>
                  <a:srgbClr val="000000"/>
                </a:solidFill>
                <a:latin typeface="Arial"/>
              </a:defRPr>
            </a:pPr>
            <a:r>
              <a:t>Calibration parameters overfit the outlier distribution of one bit-width.</a:t>
            </a:r>
          </a:p>
          <a:p>
            <a:pPr>
              <a:spcBef>
                <a:spcPts val="400"/>
              </a:spcBef>
              <a:defRPr sz="1260">
                <a:solidFill>
                  <a:srgbClr val="000000"/>
                </a:solidFill>
                <a:latin typeface="Arial"/>
              </a:defRPr>
            </a:pPr>
            <a:r>
              <a:t>A token well-fitted at 4-bit can become an outlier at 3-bit.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04688" y="2423160"/>
            <a:ext cx="4251960" cy="12344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F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 tIns="109728" bIns="73152"/>
          <a:lstStyle/>
          <a:p>
            <a:pPr algn="ctr">
              <a:defRPr sz="1600" b="1">
                <a:solidFill>
                  <a:srgbClr val="2F7D32"/>
                </a:solidFill>
                <a:latin typeface="Arial"/>
              </a:defRPr>
            </a:pPr>
            <a:r>
              <a:t>What MoBiQuant exploits</a:t>
            </a:r>
          </a:p>
          <a:p>
            <a:pPr>
              <a:spcBef>
                <a:spcPts val="400"/>
              </a:spcBef>
              <a:defRPr sz="1260">
                <a:solidFill>
                  <a:srgbClr val="000000"/>
                </a:solidFill>
                <a:latin typeface="Arial"/>
              </a:defRPr>
            </a:pPr>
            <a:r>
              <a:t>Token sensitivity can guide per-token bit allocation.</a:t>
            </a:r>
          </a:p>
          <a:p>
            <a:pPr>
              <a:spcBef>
                <a:spcPts val="400"/>
              </a:spcBef>
              <a:defRPr sz="1260">
                <a:solidFill>
                  <a:srgbClr val="000000"/>
                </a:solidFill>
                <a:latin typeface="Arial"/>
              </a:defRPr>
            </a:pPr>
            <a:r>
              <a:t>Routing high-sensitivity tokens through more bit slices improves generalization.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959352"/>
            <a:ext cx="384048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defRPr sz="1050" b="1">
                <a:solidFill>
                  <a:srgbClr val="000000"/>
                </a:solidFill>
                <a:latin typeface="Arial"/>
              </a:defRPr>
            </a:pPr>
            <a:r>
              <a:t>LLaMA3-8B / WikiText2 PPL</a:t>
            </a:r>
          </a:p>
        </p:txBody>
      </p:sp>
      <p:sp>
        <p:nvSpPr>
          <p:cNvPr id="7" name="Rectangle 6"/>
          <p:cNvSpPr/>
          <p:nvPr/>
        </p:nvSpPr>
        <p:spPr>
          <a:xfrm>
            <a:off x="1234440" y="4631090"/>
            <a:ext cx="457200" cy="1952589"/>
          </a:xfrm>
          <a:prstGeom prst="rect">
            <a:avLst/>
          </a:prstGeom>
          <a:solidFill>
            <a:srgbClr val="2F7D32"/>
          </a:solidFill>
          <a:ln>
            <a:solidFill>
              <a:srgbClr val="2F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9576" y="4722530"/>
            <a:ext cx="566928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10.06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" y="665683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defRPr sz="700" b="0">
                <a:solidFill>
                  <a:srgbClr val="000000"/>
                </a:solidFill>
                <a:latin typeface="Arial"/>
              </a:defRPr>
            </a:pPr>
            <a:r>
              <a:t>3b-&gt;4b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39112" y="4834890"/>
            <a:ext cx="457200" cy="1748790"/>
          </a:xfrm>
          <a:prstGeom prst="rect">
            <a:avLst/>
          </a:prstGeom>
          <a:solidFill>
            <a:srgbClr val="CD60C9"/>
          </a:solidFill>
          <a:ln>
            <a:solidFill>
              <a:srgbClr val="CD60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84248" y="4926329"/>
            <a:ext cx="566928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9.01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37943" y="665683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defRPr sz="700" b="0">
                <a:solidFill>
                  <a:srgbClr val="000000"/>
                </a:solidFill>
                <a:latin typeface="Arial"/>
              </a:defRPr>
            </a:pPr>
            <a:r>
              <a:t>retain 10%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43784" y="5145440"/>
            <a:ext cx="457200" cy="1438239"/>
          </a:xfrm>
          <a:prstGeom prst="rect">
            <a:avLst/>
          </a:prstGeom>
          <a:solidFill>
            <a:srgbClr val="D84862"/>
          </a:solidFill>
          <a:ln>
            <a:solidFill>
              <a:srgbClr val="D8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88920" y="5236880"/>
            <a:ext cx="566928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7.41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42616" y="665683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defRPr sz="700" b="0">
                <a:solidFill>
                  <a:srgbClr val="000000"/>
                </a:solidFill>
                <a:latin typeface="Arial"/>
              </a:defRPr>
            </a:pPr>
            <a:r>
              <a:t>4b-&gt;4b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8456" y="5164850"/>
            <a:ext cx="457200" cy="1418829"/>
          </a:xfrm>
          <a:prstGeom prst="rect">
            <a:avLst/>
          </a:prstGeom>
          <a:solidFill>
            <a:srgbClr val="F27A2E"/>
          </a:solidFill>
          <a:ln>
            <a:solidFill>
              <a:srgbClr val="F27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93592" y="5256290"/>
            <a:ext cx="566928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7.31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47288" y="665683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defRPr sz="700" b="0">
                <a:solidFill>
                  <a:srgbClr val="000000"/>
                </a:solidFill>
                <a:latin typeface="Arial"/>
              </a:defRPr>
            </a:pPr>
            <a:r>
              <a:t>MoBiQ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88720" y="6583680"/>
            <a:ext cx="333756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1188720" y="4389120"/>
            <a:ext cx="0" cy="219456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020824" y="4754880"/>
            <a:ext cx="868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Arial"/>
              </a:defRPr>
            </a:pPr>
            <a:r>
              <a:t>2.65 PPL gap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679192" y="4937760"/>
            <a:ext cx="612648" cy="640080"/>
          </a:xfrm>
          <a:prstGeom prst="line">
            <a:avLst/>
          </a:prstGeom>
          <a:ln w="17780">
            <a:solidFill>
              <a:srgbClr val="D84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715000" y="3959352"/>
            <a:ext cx="393192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defRPr sz="1050" b="1">
                <a:solidFill>
                  <a:srgbClr val="000000"/>
                </a:solidFill>
                <a:latin typeface="Arial"/>
              </a:defRPr>
            </a:pPr>
            <a:r>
              <a:t>Token-wise error peaks shift across precision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15000" y="4297680"/>
            <a:ext cx="3794760" cy="2057400"/>
          </a:xfrm>
          <a:prstGeom prst="rect">
            <a:avLst/>
          </a:prstGeom>
          <a:solidFill>
            <a:srgbClr val="FFFFFF"/>
          </a:solidFill>
          <a:ln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879592" y="5925312"/>
            <a:ext cx="54864" cy="320040"/>
          </a:xfrm>
          <a:prstGeom prst="rect">
            <a:avLst/>
          </a:prstGeom>
          <a:solidFill>
            <a:srgbClr val="5B9BD5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52744" y="5879592"/>
            <a:ext cx="54864" cy="365760"/>
          </a:xfrm>
          <a:prstGeom prst="rect">
            <a:avLst/>
          </a:prstGeom>
          <a:solidFill>
            <a:srgbClr val="2F7D32"/>
          </a:solidFill>
          <a:ln>
            <a:solidFill>
              <a:srgbClr val="2F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071616" y="5605272"/>
            <a:ext cx="54864" cy="640080"/>
          </a:xfrm>
          <a:prstGeom prst="rect">
            <a:avLst/>
          </a:prstGeom>
          <a:solidFill>
            <a:srgbClr val="5B9BD5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5952744"/>
            <a:ext cx="54864" cy="292608"/>
          </a:xfrm>
          <a:prstGeom prst="rect">
            <a:avLst/>
          </a:prstGeom>
          <a:solidFill>
            <a:srgbClr val="2F7D32"/>
          </a:solidFill>
          <a:ln>
            <a:solidFill>
              <a:srgbClr val="2F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63640" y="5833872"/>
            <a:ext cx="54864" cy="411480"/>
          </a:xfrm>
          <a:prstGeom prst="rect">
            <a:avLst/>
          </a:prstGeom>
          <a:solidFill>
            <a:srgbClr val="5B9BD5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36792" y="4736592"/>
            <a:ext cx="54864" cy="1508760"/>
          </a:xfrm>
          <a:prstGeom prst="rect">
            <a:avLst/>
          </a:prstGeom>
          <a:solidFill>
            <a:srgbClr val="2F7D32"/>
          </a:solidFill>
          <a:ln>
            <a:solidFill>
              <a:srgbClr val="2F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55664" y="4828032"/>
            <a:ext cx="54864" cy="1417320"/>
          </a:xfrm>
          <a:prstGeom prst="rect">
            <a:avLst/>
          </a:prstGeom>
          <a:solidFill>
            <a:srgbClr val="5B9BD5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28816" y="5897880"/>
            <a:ext cx="54864" cy="347472"/>
          </a:xfrm>
          <a:prstGeom prst="rect">
            <a:avLst/>
          </a:prstGeom>
          <a:solidFill>
            <a:srgbClr val="2F7D32"/>
          </a:solidFill>
          <a:ln>
            <a:solidFill>
              <a:srgbClr val="2F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647688" y="5879592"/>
            <a:ext cx="54864" cy="365760"/>
          </a:xfrm>
          <a:prstGeom prst="rect">
            <a:avLst/>
          </a:prstGeom>
          <a:solidFill>
            <a:srgbClr val="5B9BD5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720840" y="5605272"/>
            <a:ext cx="54864" cy="640080"/>
          </a:xfrm>
          <a:prstGeom prst="rect">
            <a:avLst/>
          </a:prstGeom>
          <a:solidFill>
            <a:srgbClr val="2F7D32"/>
          </a:solidFill>
          <a:ln>
            <a:solidFill>
              <a:srgbClr val="2F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839712" y="5989320"/>
            <a:ext cx="54864" cy="256032"/>
          </a:xfrm>
          <a:prstGeom prst="rect">
            <a:avLst/>
          </a:prstGeom>
          <a:solidFill>
            <a:srgbClr val="5B9BD5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912864" y="5925312"/>
            <a:ext cx="54864" cy="320040"/>
          </a:xfrm>
          <a:prstGeom prst="rect">
            <a:avLst/>
          </a:prstGeom>
          <a:solidFill>
            <a:srgbClr val="2F7D32"/>
          </a:solidFill>
          <a:ln>
            <a:solidFill>
              <a:srgbClr val="2F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031736" y="5422392"/>
            <a:ext cx="54864" cy="822960"/>
          </a:xfrm>
          <a:prstGeom prst="rect">
            <a:avLst/>
          </a:prstGeom>
          <a:solidFill>
            <a:srgbClr val="5B9BD5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104888" y="5971032"/>
            <a:ext cx="54864" cy="274320"/>
          </a:xfrm>
          <a:prstGeom prst="rect">
            <a:avLst/>
          </a:prstGeom>
          <a:solidFill>
            <a:srgbClr val="2F7D32"/>
          </a:solidFill>
          <a:ln>
            <a:solidFill>
              <a:srgbClr val="2F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223759" y="5952744"/>
            <a:ext cx="54864" cy="292608"/>
          </a:xfrm>
          <a:prstGeom prst="rect">
            <a:avLst/>
          </a:prstGeom>
          <a:solidFill>
            <a:srgbClr val="5B9BD5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296912" y="4462272"/>
            <a:ext cx="54864" cy="1783080"/>
          </a:xfrm>
          <a:prstGeom prst="rect">
            <a:avLst/>
          </a:prstGeom>
          <a:solidFill>
            <a:srgbClr val="2F7D32"/>
          </a:solidFill>
          <a:ln>
            <a:solidFill>
              <a:srgbClr val="2F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415783" y="5788152"/>
            <a:ext cx="54864" cy="457200"/>
          </a:xfrm>
          <a:prstGeom prst="rect">
            <a:avLst/>
          </a:prstGeom>
          <a:solidFill>
            <a:srgbClr val="5B9BD5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488936" y="5916168"/>
            <a:ext cx="54864" cy="329184"/>
          </a:xfrm>
          <a:prstGeom prst="rect">
            <a:avLst/>
          </a:prstGeom>
          <a:solidFill>
            <a:srgbClr val="2F7D32"/>
          </a:solidFill>
          <a:ln>
            <a:solidFill>
              <a:srgbClr val="2F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07808" y="5861304"/>
            <a:ext cx="54864" cy="384048"/>
          </a:xfrm>
          <a:prstGeom prst="rect">
            <a:avLst/>
          </a:prstGeom>
          <a:solidFill>
            <a:srgbClr val="5B9BD5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680960" y="5806440"/>
            <a:ext cx="54864" cy="438912"/>
          </a:xfrm>
          <a:prstGeom prst="rect">
            <a:avLst/>
          </a:prstGeom>
          <a:solidFill>
            <a:srgbClr val="2F7D32"/>
          </a:solidFill>
          <a:ln>
            <a:solidFill>
              <a:srgbClr val="2F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799831" y="4553712"/>
            <a:ext cx="54864" cy="1691640"/>
          </a:xfrm>
          <a:prstGeom prst="rect">
            <a:avLst/>
          </a:prstGeom>
          <a:solidFill>
            <a:srgbClr val="5B9BD5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872983" y="5925312"/>
            <a:ext cx="54864" cy="320040"/>
          </a:xfrm>
          <a:prstGeom prst="rect">
            <a:avLst/>
          </a:prstGeom>
          <a:solidFill>
            <a:srgbClr val="2F7D32"/>
          </a:solidFill>
          <a:ln>
            <a:solidFill>
              <a:srgbClr val="2F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991856" y="5916168"/>
            <a:ext cx="54864" cy="329184"/>
          </a:xfrm>
          <a:prstGeom prst="rect">
            <a:avLst/>
          </a:prstGeom>
          <a:solidFill>
            <a:srgbClr val="5B9BD5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065008" y="4946904"/>
            <a:ext cx="54864" cy="1298448"/>
          </a:xfrm>
          <a:prstGeom prst="rect">
            <a:avLst/>
          </a:prstGeom>
          <a:solidFill>
            <a:srgbClr val="2F7D32"/>
          </a:solidFill>
          <a:ln>
            <a:solidFill>
              <a:srgbClr val="2F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183879" y="5769864"/>
            <a:ext cx="54864" cy="475488"/>
          </a:xfrm>
          <a:prstGeom prst="rect">
            <a:avLst/>
          </a:prstGeom>
          <a:solidFill>
            <a:srgbClr val="5B9BD5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257031" y="5943600"/>
            <a:ext cx="54864" cy="301752"/>
          </a:xfrm>
          <a:prstGeom prst="rect">
            <a:avLst/>
          </a:prstGeom>
          <a:solidFill>
            <a:srgbClr val="2F7D32"/>
          </a:solidFill>
          <a:ln>
            <a:solidFill>
              <a:srgbClr val="2F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375904" y="5879592"/>
            <a:ext cx="54864" cy="365760"/>
          </a:xfrm>
          <a:prstGeom prst="rect">
            <a:avLst/>
          </a:prstGeom>
          <a:solidFill>
            <a:srgbClr val="5B9BD5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449056" y="5559552"/>
            <a:ext cx="54864" cy="685800"/>
          </a:xfrm>
          <a:prstGeom prst="rect">
            <a:avLst/>
          </a:prstGeom>
          <a:solidFill>
            <a:srgbClr val="2F7D32"/>
          </a:solidFill>
          <a:ln>
            <a:solidFill>
              <a:srgbClr val="2F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567928" y="5102352"/>
            <a:ext cx="54864" cy="1143000"/>
          </a:xfrm>
          <a:prstGeom prst="rect">
            <a:avLst/>
          </a:prstGeom>
          <a:solidFill>
            <a:srgbClr val="5B9BD5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641080" y="5843016"/>
            <a:ext cx="54864" cy="402336"/>
          </a:xfrm>
          <a:prstGeom prst="rect">
            <a:avLst/>
          </a:prstGeom>
          <a:solidFill>
            <a:srgbClr val="2F7D32"/>
          </a:solidFill>
          <a:ln>
            <a:solidFill>
              <a:srgbClr val="2F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759952" y="5961888"/>
            <a:ext cx="54864" cy="283464"/>
          </a:xfrm>
          <a:prstGeom prst="rect">
            <a:avLst/>
          </a:prstGeom>
          <a:solidFill>
            <a:srgbClr val="5B9BD5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833104" y="4690872"/>
            <a:ext cx="54864" cy="1554480"/>
          </a:xfrm>
          <a:prstGeom prst="rect">
            <a:avLst/>
          </a:prstGeom>
          <a:solidFill>
            <a:srgbClr val="2F7D32"/>
          </a:solidFill>
          <a:ln>
            <a:solidFill>
              <a:srgbClr val="2F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951976" y="5806440"/>
            <a:ext cx="54864" cy="438912"/>
          </a:xfrm>
          <a:prstGeom prst="rect">
            <a:avLst/>
          </a:prstGeom>
          <a:solidFill>
            <a:srgbClr val="5B9BD5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025128" y="5934456"/>
            <a:ext cx="54864" cy="310896"/>
          </a:xfrm>
          <a:prstGeom prst="rect">
            <a:avLst/>
          </a:prstGeom>
          <a:solidFill>
            <a:srgbClr val="2F7D32"/>
          </a:solidFill>
          <a:ln>
            <a:solidFill>
              <a:srgbClr val="2F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144000" y="5897880"/>
            <a:ext cx="54864" cy="347472"/>
          </a:xfrm>
          <a:prstGeom prst="rect">
            <a:avLst/>
          </a:prstGeom>
          <a:solidFill>
            <a:srgbClr val="5B9BD5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217152" y="5861304"/>
            <a:ext cx="54864" cy="384048"/>
          </a:xfrm>
          <a:prstGeom prst="rect">
            <a:avLst/>
          </a:prstGeom>
          <a:solidFill>
            <a:srgbClr val="2F7D32"/>
          </a:solidFill>
          <a:ln>
            <a:solidFill>
              <a:srgbClr val="2F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989320" y="6492240"/>
            <a:ext cx="960120" cy="256032"/>
          </a:xfrm>
          <a:prstGeom prst="roundRect">
            <a:avLst/>
          </a:prstGeom>
          <a:solidFill>
            <a:srgbClr val="5B9BD5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/>
          <a:lstStyle/>
          <a:p>
            <a:pPr algn="ctr">
              <a:defRPr sz="800" b="1">
                <a:solidFill>
                  <a:srgbClr val="FFFFFF"/>
                </a:solidFill>
                <a:latin typeface="Arial"/>
              </a:defRPr>
            </a:pPr>
            <a:r>
              <a:t>4-bit errors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086600" y="6492240"/>
            <a:ext cx="960120" cy="256032"/>
          </a:xfrm>
          <a:prstGeom prst="roundRect">
            <a:avLst/>
          </a:prstGeom>
          <a:solidFill>
            <a:srgbClr val="2F7D32"/>
          </a:solidFill>
          <a:ln>
            <a:solidFill>
              <a:srgbClr val="2F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/>
          <a:lstStyle/>
          <a:p>
            <a:pPr algn="ctr">
              <a:defRPr sz="800" b="1">
                <a:solidFill>
                  <a:srgbClr val="FFFFFF"/>
                </a:solidFill>
                <a:latin typeface="Arial"/>
              </a:defRPr>
            </a:pPr>
            <a:r>
              <a:t>3-bit errors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348471" y="6492240"/>
            <a:ext cx="914400" cy="256032"/>
          </a:xfrm>
          <a:prstGeom prst="roundRect">
            <a:avLst/>
          </a:prstGeom>
          <a:solidFill>
            <a:srgbClr val="D84862"/>
          </a:solidFill>
          <a:ln>
            <a:solidFill>
              <a:srgbClr val="D8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/>
          <a:lstStyle/>
          <a:p>
            <a:pPr algn="ctr">
              <a:defRPr sz="800" b="1">
                <a:solidFill>
                  <a:srgbClr val="FFFFFF"/>
                </a:solidFill>
                <a:latin typeface="Arial"/>
              </a:defRPr>
            </a:pPr>
            <a:r>
              <a:t>low overlap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78992" y="7479792"/>
            <a:ext cx="8595360" cy="2377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defRPr sz="850" b="0">
                <a:solidFill>
                  <a:srgbClr val="5A5A5A"/>
                </a:solidFill>
                <a:latin typeface="Arial"/>
              </a:defRPr>
            </a:pPr>
            <a:r>
              <a:t>Source: Wang et al., MoBiQuant, arXiv:2602.20191 (2026)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4100048" y="7571231"/>
            <a:ext cx="384048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defRPr sz="1000" b="0">
                <a:solidFill>
                  <a:srgbClr val="093670"/>
                </a:solidFill>
                <a:latin typeface="Arial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  <a:defRPr sz="3100" b="0">
                <a:solidFill>
                  <a:srgbClr val="000000"/>
                </a:solidFill>
                <a:latin typeface="Arial"/>
              </a:defRPr>
            </a:pPr>
            <a:r>
              <a:t>Method: MoBiSlice and MoBiRoute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1847088"/>
            <a:ext cx="868680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defRPr sz="1700" b="1">
                <a:solidFill>
                  <a:srgbClr val="093670"/>
                </a:solidFill>
                <a:latin typeface="Arial"/>
              </a:defRPr>
            </a:pPr>
            <a:r>
              <a:t>A single linear block becomes a routed mixture of residual bit slices.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70432" y="2743200"/>
            <a:ext cx="1371600" cy="457200"/>
          </a:xfrm>
          <a:prstGeom prst="roundRect">
            <a:avLst/>
          </a:prstGeom>
          <a:solidFill>
            <a:srgbClr val="5B9BD5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Input tokens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71800" y="2743200"/>
            <a:ext cx="1417320" cy="457200"/>
          </a:xfrm>
          <a:prstGeom prst="roundRect">
            <a:avLst/>
          </a:prstGeom>
          <a:solidFill>
            <a:srgbClr val="F27A2E"/>
          </a:solidFill>
          <a:ln>
            <a:solidFill>
              <a:srgbClr val="F27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MoBiRoute MLP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92040" y="2743200"/>
            <a:ext cx="1783080" cy="457200"/>
          </a:xfrm>
          <a:prstGeom prst="roundRect">
            <a:avLst/>
          </a:prstGeom>
          <a:solidFill>
            <a:srgbClr val="D84862"/>
          </a:solidFill>
          <a:ln>
            <a:solidFill>
              <a:srgbClr val="D8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Binary slice mask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2743200"/>
            <a:ext cx="2057400" cy="457200"/>
          </a:xfrm>
          <a:prstGeom prst="roundRect">
            <a:avLst/>
          </a:prstGeom>
          <a:solidFill>
            <a:srgbClr val="2F7D32"/>
          </a:solidFill>
          <a:ln>
            <a:solidFill>
              <a:srgbClr val="2F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Active bit slices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42032" y="2971800"/>
            <a:ext cx="402336" cy="0"/>
          </a:xfrm>
          <a:prstGeom prst="line">
            <a:avLst/>
          </a:prstGeom>
          <a:ln w="20320">
            <a:solidFill>
              <a:srgbClr val="093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389120" y="2971800"/>
            <a:ext cx="475488" cy="0"/>
          </a:xfrm>
          <a:prstGeom prst="line">
            <a:avLst/>
          </a:prstGeom>
          <a:ln w="20320">
            <a:solidFill>
              <a:srgbClr val="093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675120" y="2971800"/>
            <a:ext cx="521208" cy="0"/>
          </a:xfrm>
          <a:prstGeom prst="line">
            <a:avLst/>
          </a:prstGeom>
          <a:ln w="20320">
            <a:solidFill>
              <a:srgbClr val="093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261872" y="3429000"/>
            <a:ext cx="274320" cy="274320"/>
          </a:xfrm>
          <a:prstGeom prst="roundRect">
            <a:avLst/>
          </a:prstGeom>
          <a:solidFill>
            <a:srgbClr val="E2EFFF"/>
          </a:solidFill>
          <a:ln>
            <a:solidFill>
              <a:srgbClr val="E2E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/>
          <a:lstStyle/>
          <a:p>
            <a:pPr algn="ctr">
              <a:defRPr sz="800" b="1">
                <a:solidFill>
                  <a:srgbClr val="093670"/>
                </a:solidFill>
                <a:latin typeface="Arial"/>
              </a:defRPr>
            </a:pPr>
            <a:r>
              <a:t>x1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09343" y="3429000"/>
            <a:ext cx="274320" cy="274320"/>
          </a:xfrm>
          <a:prstGeom prst="roundRect">
            <a:avLst/>
          </a:prstGeom>
          <a:solidFill>
            <a:srgbClr val="E2EFFF"/>
          </a:solidFill>
          <a:ln>
            <a:solidFill>
              <a:srgbClr val="E2E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/>
          <a:lstStyle/>
          <a:p>
            <a:pPr algn="ctr">
              <a:defRPr sz="800" b="1">
                <a:solidFill>
                  <a:srgbClr val="093670"/>
                </a:solidFill>
                <a:latin typeface="Arial"/>
              </a:defRPr>
            </a:pPr>
            <a:r>
              <a:t>x2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956815" y="3429000"/>
            <a:ext cx="274320" cy="274320"/>
          </a:xfrm>
          <a:prstGeom prst="roundRect">
            <a:avLst/>
          </a:prstGeom>
          <a:solidFill>
            <a:srgbClr val="E2EFFF"/>
          </a:solidFill>
          <a:ln>
            <a:solidFill>
              <a:srgbClr val="E2E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/>
          <a:lstStyle/>
          <a:p>
            <a:pPr algn="ctr">
              <a:defRPr sz="800" b="1">
                <a:solidFill>
                  <a:srgbClr val="093670"/>
                </a:solidFill>
                <a:latin typeface="Arial"/>
              </a:defRPr>
            </a:pPr>
            <a:r>
              <a:t>x3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74920" y="3401568"/>
            <a:ext cx="274320" cy="210312"/>
          </a:xfrm>
          <a:prstGeom prst="rect">
            <a:avLst/>
          </a:prstGeom>
          <a:solidFill>
            <a:srgbClr val="D84862"/>
          </a:solidFill>
          <a:ln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394959" y="3401568"/>
            <a:ext cx="274320" cy="210312"/>
          </a:xfrm>
          <a:prstGeom prst="rect">
            <a:avLst/>
          </a:prstGeom>
          <a:solidFill>
            <a:srgbClr val="D84862"/>
          </a:solidFill>
          <a:ln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15000" y="3401568"/>
            <a:ext cx="274320" cy="210312"/>
          </a:xfrm>
          <a:prstGeom prst="rect">
            <a:avLst/>
          </a:prstGeom>
          <a:solidFill>
            <a:srgbClr val="FFFFFF"/>
          </a:solidFill>
          <a:ln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35040" y="3401568"/>
            <a:ext cx="274320" cy="210312"/>
          </a:xfrm>
          <a:prstGeom prst="rect">
            <a:avLst/>
          </a:prstGeom>
          <a:solidFill>
            <a:srgbClr val="FFFFFF"/>
          </a:solidFill>
          <a:ln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74920" y="3657600"/>
            <a:ext cx="274320" cy="210312"/>
          </a:xfrm>
          <a:prstGeom prst="rect">
            <a:avLst/>
          </a:prstGeom>
          <a:solidFill>
            <a:srgbClr val="D84862"/>
          </a:solidFill>
          <a:ln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94959" y="3657600"/>
            <a:ext cx="274320" cy="210312"/>
          </a:xfrm>
          <a:prstGeom prst="rect">
            <a:avLst/>
          </a:prstGeom>
          <a:solidFill>
            <a:srgbClr val="D84862"/>
          </a:solidFill>
          <a:ln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15000" y="3657600"/>
            <a:ext cx="274320" cy="210312"/>
          </a:xfrm>
          <a:prstGeom prst="rect">
            <a:avLst/>
          </a:prstGeom>
          <a:solidFill>
            <a:srgbClr val="D84862"/>
          </a:solidFill>
          <a:ln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35040" y="3657600"/>
            <a:ext cx="274320" cy="210312"/>
          </a:xfrm>
          <a:prstGeom prst="rect">
            <a:avLst/>
          </a:prstGeom>
          <a:solidFill>
            <a:srgbClr val="FFFFFF"/>
          </a:solidFill>
          <a:ln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74920" y="3913632"/>
            <a:ext cx="274320" cy="210312"/>
          </a:xfrm>
          <a:prstGeom prst="rect">
            <a:avLst/>
          </a:prstGeom>
          <a:solidFill>
            <a:srgbClr val="D84862"/>
          </a:solidFill>
          <a:ln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394959" y="3913632"/>
            <a:ext cx="274320" cy="210312"/>
          </a:xfrm>
          <a:prstGeom prst="rect">
            <a:avLst/>
          </a:prstGeom>
          <a:solidFill>
            <a:srgbClr val="FFFFFF"/>
          </a:solidFill>
          <a:ln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715000" y="3913632"/>
            <a:ext cx="274320" cy="210312"/>
          </a:xfrm>
          <a:prstGeom prst="rect">
            <a:avLst/>
          </a:prstGeom>
          <a:solidFill>
            <a:srgbClr val="FFFFFF"/>
          </a:solidFill>
          <a:ln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035040" y="3913632"/>
            <a:ext cx="274320" cy="210312"/>
          </a:xfrm>
          <a:prstGeom prst="rect">
            <a:avLst/>
          </a:prstGeom>
          <a:solidFill>
            <a:srgbClr val="FFFFFF"/>
          </a:solidFill>
          <a:ln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60920" y="3456432"/>
            <a:ext cx="914400" cy="310896"/>
          </a:xfrm>
          <a:prstGeom prst="rect">
            <a:avLst/>
          </a:prstGeom>
          <a:solidFill>
            <a:srgbClr val="5B9BD5"/>
          </a:solidFill>
          <a:ln>
            <a:solidFill>
              <a:srgbClr val="0936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88352" y="3493008"/>
            <a:ext cx="822960" cy="146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Arial"/>
              </a:defRPr>
            </a:pPr>
            <a:r>
              <a:t>W1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71816" y="3803904"/>
            <a:ext cx="914400" cy="310896"/>
          </a:xfrm>
          <a:prstGeom prst="rect">
            <a:avLst/>
          </a:prstGeom>
          <a:solidFill>
            <a:srgbClr val="F27A2E"/>
          </a:solidFill>
          <a:ln>
            <a:solidFill>
              <a:srgbClr val="0936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99248" y="3840480"/>
            <a:ext cx="822960" cy="146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Arial"/>
              </a:defRPr>
            </a:pPr>
            <a:r>
              <a:t>W2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82712" y="4151376"/>
            <a:ext cx="914400" cy="310896"/>
          </a:xfrm>
          <a:prstGeom prst="rect">
            <a:avLst/>
          </a:prstGeom>
          <a:solidFill>
            <a:srgbClr val="2F7D32"/>
          </a:solidFill>
          <a:ln>
            <a:solidFill>
              <a:srgbClr val="0936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10144" y="4187952"/>
            <a:ext cx="822960" cy="146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Arial"/>
              </a:defRPr>
            </a:pPr>
            <a:r>
              <a:t>W3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93608" y="4498848"/>
            <a:ext cx="914400" cy="310896"/>
          </a:xfrm>
          <a:prstGeom prst="rect">
            <a:avLst/>
          </a:prstGeom>
          <a:solidFill>
            <a:srgbClr val="DCDCDC"/>
          </a:solidFill>
          <a:ln>
            <a:solidFill>
              <a:srgbClr val="0936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21040" y="4535424"/>
            <a:ext cx="822960" cy="146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defRPr sz="850" b="1">
                <a:solidFill>
                  <a:srgbClr val="000000"/>
                </a:solidFill>
                <a:latin typeface="Arial"/>
              </a:defRPr>
            </a:pPr>
            <a:r>
              <a:t>W4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78992" y="4800600"/>
            <a:ext cx="2788920" cy="15087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 tIns="109728" bIns="73152"/>
          <a:lstStyle/>
          <a:p>
            <a:pPr algn="ctr">
              <a:defRPr sz="1600" b="1">
                <a:solidFill>
                  <a:srgbClr val="5B9BD5"/>
                </a:solidFill>
                <a:latin typeface="Arial"/>
              </a:defRPr>
            </a:pPr>
            <a:r>
              <a:t>MoBiSlice</a:t>
            </a:r>
          </a:p>
          <a:p>
            <a:pPr>
              <a:spcBef>
                <a:spcPts val="400"/>
              </a:spcBef>
              <a:defRPr sz="1260">
                <a:solidFill>
                  <a:srgbClr val="000000"/>
                </a:solidFill>
                <a:latin typeface="Arial"/>
              </a:defRPr>
            </a:pPr>
            <a:r>
              <a:t>Recursively quantizes residual weights into 2-bit slices.</a:t>
            </a:r>
          </a:p>
          <a:p>
            <a:pPr>
              <a:spcBef>
                <a:spcPts val="400"/>
              </a:spcBef>
              <a:defRPr sz="1260">
                <a:solidFill>
                  <a:srgbClr val="000000"/>
                </a:solidFill>
                <a:latin typeface="Arial"/>
              </a:defRPr>
            </a:pPr>
            <a:r>
              <a:t>Higher precision is reconstructed by summing more slices.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069080" y="4800600"/>
            <a:ext cx="2788920" cy="15087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F27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 tIns="109728" bIns="73152"/>
          <a:lstStyle/>
          <a:p>
            <a:pPr algn="ctr">
              <a:defRPr sz="1600" b="1">
                <a:solidFill>
                  <a:srgbClr val="F27A2E"/>
                </a:solidFill>
                <a:latin typeface="Arial"/>
              </a:defRPr>
            </a:pPr>
            <a:r>
              <a:t>MoBiRoute</a:t>
            </a:r>
          </a:p>
          <a:p>
            <a:pPr>
              <a:spcBef>
                <a:spcPts val="400"/>
              </a:spcBef>
              <a:defRPr sz="1260">
                <a:solidFill>
                  <a:srgbClr val="000000"/>
                </a:solidFill>
                <a:latin typeface="Arial"/>
              </a:defRPr>
            </a:pPr>
            <a:r>
              <a:t>Scores token sensitivity and gates slices with binary decisions.</a:t>
            </a:r>
          </a:p>
          <a:p>
            <a:pPr>
              <a:spcBef>
                <a:spcPts val="400"/>
              </a:spcBef>
              <a:defRPr sz="1260">
                <a:solidFill>
                  <a:srgbClr val="000000"/>
                </a:solidFill>
                <a:latin typeface="Arial"/>
              </a:defRPr>
            </a:pPr>
            <a:r>
              <a:t>A threshold controls the target average bit budget.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059168" y="4800600"/>
            <a:ext cx="2788920" cy="15087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F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 tIns="109728" bIns="73152"/>
          <a:lstStyle/>
          <a:p>
            <a:pPr algn="ctr">
              <a:defRPr sz="1600" b="1">
                <a:solidFill>
                  <a:srgbClr val="2F7D32"/>
                </a:solidFill>
                <a:latin typeface="Arial"/>
              </a:defRPr>
            </a:pPr>
            <a:r>
              <a:t>Kernel design</a:t>
            </a:r>
          </a:p>
          <a:p>
            <a:pPr>
              <a:spcBef>
                <a:spcPts val="400"/>
              </a:spcBef>
              <a:defRPr sz="1260">
                <a:solidFill>
                  <a:srgbClr val="000000"/>
                </a:solidFill>
                <a:latin typeface="Arial"/>
              </a:defRPr>
            </a:pPr>
            <a:r>
              <a:t>Bit-major packing fetches only active slices.</a:t>
            </a:r>
          </a:p>
          <a:p>
            <a:pPr>
              <a:spcBef>
                <a:spcPts val="400"/>
              </a:spcBef>
              <a:defRPr sz="1260">
                <a:solidFill>
                  <a:srgbClr val="000000"/>
                </a:solidFill>
                <a:latin typeface="Arial"/>
              </a:defRPr>
            </a:pPr>
            <a:r>
              <a:t>Shared scaling avoids extra per-precision parameters.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8992" y="7479792"/>
            <a:ext cx="8595360" cy="2377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defRPr sz="850" b="0">
                <a:solidFill>
                  <a:srgbClr val="5A5A5A"/>
                </a:solidFill>
                <a:latin typeface="Arial"/>
              </a:defRPr>
            </a:pPr>
            <a:r>
              <a:t>Source: Wang et al., MoBiQuant, arXiv:2602.20191 (2026)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100048" y="7571231"/>
            <a:ext cx="384048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defRPr sz="1000" b="0">
                <a:solidFill>
                  <a:srgbClr val="093670"/>
                </a:solidFill>
                <a:latin typeface="Arial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  <a:defRPr sz="3100" b="0">
                <a:solidFill>
                  <a:srgbClr val="000000"/>
                </a:solidFill>
                <a:latin typeface="Arial"/>
              </a:defRPr>
            </a:pPr>
            <a:r>
              <a:t>Main Results and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1847088"/>
            <a:ext cx="864108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defRPr sz="1700" b="1">
                <a:solidFill>
                  <a:srgbClr val="093670"/>
                </a:solidFill>
                <a:latin typeface="Arial"/>
              </a:defRPr>
            </a:pPr>
            <a:r>
              <a:t>MoBiQuant keeps elasticity while approaching fixed-precision PTQ quality.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8992" y="2514600"/>
            <a:ext cx="4160520" cy="13258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 tIns="109728" bIns="73152"/>
          <a:lstStyle/>
          <a:p>
            <a:pPr algn="ctr">
              <a:defRPr sz="1600" b="1">
                <a:solidFill>
                  <a:srgbClr val="5B9BD5"/>
                </a:solidFill>
                <a:latin typeface="Arial"/>
              </a:defRPr>
            </a:pPr>
            <a:r>
              <a:t>Accuracy</a:t>
            </a:r>
          </a:p>
          <a:p>
            <a:pPr>
              <a:spcBef>
                <a:spcPts val="400"/>
              </a:spcBef>
              <a:defRPr sz="1260">
                <a:solidFill>
                  <a:srgbClr val="000000"/>
                </a:solidFill>
                <a:latin typeface="Arial"/>
              </a:defRPr>
            </a:pPr>
            <a:r>
              <a:t>Matches or surpasses static scalar PTQ across LLaMA2 and LLaMA3 model families.</a:t>
            </a:r>
          </a:p>
          <a:p>
            <a:pPr>
              <a:spcBef>
                <a:spcPts val="400"/>
              </a:spcBef>
              <a:defRPr sz="1260">
                <a:solidFill>
                  <a:srgbClr val="000000"/>
                </a:solidFill>
                <a:latin typeface="Arial"/>
              </a:defRPr>
            </a:pPr>
            <a:r>
              <a:t>At 2-3 bit, reduces severe PPL collapse versus prior any-precision baselines.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96128" y="2514600"/>
            <a:ext cx="4160520" cy="13258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F27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 tIns="109728" bIns="73152"/>
          <a:lstStyle/>
          <a:p>
            <a:pPr algn="ctr">
              <a:defRPr sz="1600" b="1">
                <a:solidFill>
                  <a:srgbClr val="F27A2E"/>
                </a:solidFill>
                <a:latin typeface="Arial"/>
              </a:defRPr>
            </a:pPr>
            <a:r>
              <a:t>Throughput</a:t>
            </a:r>
          </a:p>
          <a:p>
            <a:pPr>
              <a:spcBef>
                <a:spcPts val="400"/>
              </a:spcBef>
              <a:defRPr sz="1260">
                <a:solidFill>
                  <a:srgbClr val="000000"/>
                </a:solidFill>
                <a:latin typeface="Arial"/>
              </a:defRPr>
            </a:pPr>
            <a:r>
              <a:t>Average decoding speedup: 33.8% over AnyPrecisionLLM.</a:t>
            </a:r>
          </a:p>
          <a:p>
            <a:pPr>
              <a:spcBef>
                <a:spcPts val="400"/>
              </a:spcBef>
              <a:defRPr sz="1260">
                <a:solidFill>
                  <a:srgbClr val="000000"/>
                </a:solidFill>
                <a:latin typeface="Arial"/>
              </a:defRPr>
            </a:pPr>
            <a:r>
              <a:t>Average decoding speedup: 22.8% over AnyBCQ.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8992" y="4160520"/>
            <a:ext cx="4160520" cy="13258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F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 tIns="109728" bIns="73152"/>
          <a:lstStyle/>
          <a:p>
            <a:pPr algn="ctr">
              <a:defRPr sz="1600" b="1">
                <a:solidFill>
                  <a:srgbClr val="2F7D32"/>
                </a:solidFill>
                <a:latin typeface="Arial"/>
              </a:defRPr>
            </a:pPr>
            <a:r>
              <a:t>Memory</a:t>
            </a:r>
          </a:p>
          <a:p>
            <a:pPr>
              <a:spcBef>
                <a:spcPts val="400"/>
              </a:spcBef>
              <a:defRPr sz="1260">
                <a:solidFill>
                  <a:srgbClr val="000000"/>
                </a:solidFill>
                <a:latin typeface="Arial"/>
              </a:defRPr>
            </a:pPr>
            <a:r>
              <a:t>One nested model replaces multiple per-bit deployments.</a:t>
            </a:r>
          </a:p>
          <a:p>
            <a:pPr>
              <a:spcBef>
                <a:spcPts val="400"/>
              </a:spcBef>
              <a:defRPr sz="1260">
                <a:solidFill>
                  <a:srgbClr val="000000"/>
                </a:solidFill>
                <a:latin typeface="Arial"/>
              </a:defRPr>
            </a:pPr>
            <a:r>
              <a:t>Reported memory footprint reduction is up to 3.5x.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596128" y="4160520"/>
            <a:ext cx="4160520" cy="13258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936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 tIns="109728" bIns="73152"/>
          <a:lstStyle/>
          <a:p>
            <a:pPr algn="ctr">
              <a:defRPr sz="1600" b="1">
                <a:solidFill>
                  <a:srgbClr val="093670"/>
                </a:solidFill>
                <a:latin typeface="Arial"/>
              </a:defRPr>
            </a:pPr>
            <a:r>
              <a:t>Conclusion</a:t>
            </a:r>
          </a:p>
          <a:p>
            <a:pPr>
              <a:spcBef>
                <a:spcPts val="400"/>
              </a:spcBef>
              <a:defRPr sz="1260">
                <a:solidFill>
                  <a:srgbClr val="000000"/>
                </a:solidFill>
                <a:latin typeface="Arial"/>
              </a:defRPr>
            </a:pPr>
            <a:r>
              <a:t>The core win is not just storing more precisions.</a:t>
            </a:r>
          </a:p>
          <a:p>
            <a:pPr>
              <a:spcBef>
                <a:spcPts val="400"/>
              </a:spcBef>
              <a:defRPr sz="1260">
                <a:solidFill>
                  <a:srgbClr val="000000"/>
                </a:solidFill>
                <a:latin typeface="Arial"/>
              </a:defRPr>
            </a:pPr>
            <a:r>
              <a:t>The router mitigates outlier migration by assigning precision per token.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57400" y="5989320"/>
            <a:ext cx="6675120" cy="502920"/>
          </a:xfrm>
          <a:prstGeom prst="roundRect">
            <a:avLst/>
          </a:prstGeom>
          <a:solidFill>
            <a:srgbClr val="F2E084"/>
          </a:solidFill>
          <a:ln>
            <a:solidFill>
              <a:srgbClr val="F2E0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/>
          <a:lstStyle/>
          <a:p>
            <a:pPr algn="ctr">
              <a:defRPr sz="1400" b="1">
                <a:solidFill>
                  <a:srgbClr val="093670"/>
                </a:solidFill>
                <a:latin typeface="Arial"/>
              </a:defRPr>
            </a:pPr>
            <a:r>
              <a:t>Takeaway: precision becomes a dynamic information budget at inference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7479792"/>
            <a:ext cx="8595360" cy="2377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defRPr sz="850" b="0">
                <a:solidFill>
                  <a:srgbClr val="5A5A5A"/>
                </a:solidFill>
                <a:latin typeface="Arial"/>
              </a:defRPr>
            </a:pPr>
            <a:r>
              <a:t>Source: Wang et al., MoBiQuant, arXiv:2602.20191 (2026)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00048" y="7571231"/>
            <a:ext cx="384048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defRPr sz="1000" b="0">
                <a:solidFill>
                  <a:srgbClr val="093670"/>
                </a:solidFill>
                <a:latin typeface="Arial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83</Words>
  <Application>Microsoft Office PowerPoint</Application>
  <PresentationFormat>自訂</PresentationFormat>
  <Paragraphs>17</Paragraphs>
  <Slides>3</Slides>
  <Notes>3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</vt:i4>
      </vt:variant>
    </vt:vector>
  </HeadingPairs>
  <TitlesOfParts>
    <vt:vector size="7" baseType="lpstr">
      <vt:lpstr>PT Serif</vt:lpstr>
      <vt:lpstr>Arial</vt:lpstr>
      <vt:lpstr>Calibri</vt:lpstr>
      <vt:lpstr>Office Theme</vt:lpstr>
      <vt:lpstr>[Title] [seminar]</vt:lpstr>
      <vt:lpstr>Outline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郭子維</dc:creator>
  <cp:lastModifiedBy>郭子維</cp:lastModifiedBy>
  <cp:revision>2</cp:revision>
  <dcterms:modified xsi:type="dcterms:W3CDTF">2026-05-27T21:18:23Z</dcterms:modified>
</cp:coreProperties>
</file>