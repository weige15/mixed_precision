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H10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H10 is now an assignment artifact, not a predictor hope.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H10 progress note and H10 analysis, 2026-05-26/27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1943100"/>
            <a:ext cx="6191250" cy="118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0">
                <a:solidFill>
                  <a:srgbClr val="18212B"/>
                </a:solidFill>
                <a:latin typeface="Aptos Display"/>
              </a:rPr>
              <a:t>The HAQ principle has been translated into a PEFT workflow: build backend-feasible action rows, score precision risk from target probes, then solve a frozen constrained assignment.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67624" y="1219200"/>
            <a:ext cx="3048000" cy="32766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3374" y="1504950"/>
            <a:ext cx="2476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1">
                <a:solidFill>
                  <a:srgbClr val="E7B071"/>
                </a:solidFill>
                <a:latin typeface="Aptos"/>
              </a:rPr>
              <a:t>Selected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3374" y="2095499"/>
            <a:ext cx="23812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5" b="1">
                <a:solidFill>
                  <a:srgbClr val="FFFDF8"/>
                </a:solidFill>
                <a:latin typeface="Aptos Display"/>
              </a:rPr>
              <a:t>QLoRA/NF4 +
bf16 projection
rescue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3374" y="3276600"/>
            <a:ext cx="23812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D7E7E8"/>
                </a:solidFill>
                <a:latin typeface="Aptos"/>
              </a:rPr>
              <a:t>Chosen under a 1% quality-risk gate and required memory saving.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450" y="3600450"/>
            <a:ext cx="2333625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450" y="3600450"/>
            <a:ext cx="66675" cy="1104900"/>
          </a:xfrm>
          <a:prstGeom prst="rect">
            <a:avLst/>
          </a:prstGeom>
          <a:solidFill>
            <a:srgbClr val="2F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771900"/>
            <a:ext cx="1952624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18212B"/>
                </a:solidFill>
                <a:latin typeface="Aptos Display"/>
              </a:rPr>
              <a:t>0.0068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171950"/>
            <a:ext cx="19526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59636F"/>
                </a:solidFill>
                <a:latin typeface="Aptos"/>
              </a:rPr>
              <a:t>predicted quality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400550"/>
            <a:ext cx="1952624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2" b="0">
                <a:solidFill>
                  <a:srgbClr val="59636F"/>
                </a:solidFill>
                <a:latin typeface="Aptos"/>
              </a:rPr>
              <a:t>inside epsilon = 0.01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4200" y="3600450"/>
            <a:ext cx="2333625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24200" y="3600450"/>
            <a:ext cx="66675" cy="1104900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3750" y="3771900"/>
            <a:ext cx="1952624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18212B"/>
                </a:solidFill>
                <a:latin typeface="Aptos Display"/>
              </a:rPr>
              <a:t>-5.105 GiB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3750" y="4171950"/>
            <a:ext cx="19526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59636F"/>
                </a:solidFill>
                <a:latin typeface="Aptos"/>
              </a:rPr>
              <a:t>memory delta vs bf16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3750" y="4400550"/>
            <a:ext cx="1952624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2" b="0">
                <a:solidFill>
                  <a:srgbClr val="59636F"/>
                </a:solidFill>
                <a:latin typeface="Aptos"/>
              </a:rPr>
              <a:t>retains most QLoRA saving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5950" y="3600450"/>
            <a:ext cx="2333625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95950" y="3600450"/>
            <a:ext cx="66675" cy="110490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5500" y="3771900"/>
            <a:ext cx="1952624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18212B"/>
                </a:solidFill>
                <a:latin typeface="Aptos Display"/>
              </a:rPr>
              <a:t>3/3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0" y="4171950"/>
            <a:ext cx="19526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59636F"/>
                </a:solidFill>
                <a:latin typeface="Aptos"/>
              </a:rPr>
              <a:t>unsafe 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0" y="4400550"/>
            <a:ext cx="1952624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2" b="0">
                <a:solidFill>
                  <a:srgbClr val="59636F"/>
                </a:solidFill>
                <a:latin typeface="Aptos"/>
              </a:rPr>
              <a:t>target perturbation @ k=4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EVIDENCE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H7-H9 now form the evidence chain H10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2714625"/>
            <a:ext cx="2343150" cy="16954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2886075"/>
            <a:ext cx="6096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77635"/>
                </a:solidFill>
                <a:latin typeface="Aptos Display"/>
              </a:rPr>
              <a:t>H7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267075"/>
            <a:ext cx="1809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8212B"/>
                </a:solidFill>
                <a:latin typeface="Aptos"/>
              </a:rPr>
              <a:t>risk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648075"/>
            <a:ext cx="1866899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>
                <a:solidFill>
                  <a:srgbClr val="59636F"/>
                </a:solidFill>
                <a:latin typeface="Aptos"/>
              </a:rPr>
              <a:t>Short calibration and perturbation probes make module precision sensitivity observable.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6575" y="3552825"/>
            <a:ext cx="209550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Triangle 14"/>
          <p:cNvSpPr/>
          <p:nvPr/>
        </p:nvSpPr>
        <p:spPr>
          <a:xfrm>
            <a:off x="3200400" y="3505200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2800" y="2714625"/>
            <a:ext cx="2343150" cy="16954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3300" y="2886075"/>
            <a:ext cx="6096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77635"/>
                </a:solidFill>
                <a:latin typeface="Aptos Display"/>
              </a:rPr>
              <a:t>H8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3267075"/>
            <a:ext cx="1809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8212B"/>
                </a:solidFill>
                <a:latin typeface="Aptos"/>
              </a:rPr>
              <a:t>backend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3648075"/>
            <a:ext cx="1866899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>
                <a:solidFill>
                  <a:srgbClr val="59636F"/>
                </a:solidFill>
                <a:latin typeface="Aptos"/>
              </a:rPr>
              <a:t>QLoRA/NF4 selective rescue measures real memory-quality trade-offs on RTX 3090.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2625" y="3552825"/>
            <a:ext cx="209550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>
            <a:off x="5886450" y="3505200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8850" y="2714625"/>
            <a:ext cx="2343150" cy="16954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9350" y="2886075"/>
            <a:ext cx="6096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77635"/>
                </a:solidFill>
                <a:latin typeface="Aptos Display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350" y="3267075"/>
            <a:ext cx="1809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8212B"/>
                </a:solidFill>
                <a:latin typeface="Aptos"/>
              </a:rPr>
              <a:t>scope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9350" y="3648075"/>
            <a:ext cx="1866899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>
                <a:solidFill>
                  <a:srgbClr val="59636F"/>
                </a:solidFill>
                <a:latin typeface="Aptos"/>
              </a:rPr>
              <a:t>Global inference dtype/KV knobs are measurable but too coarse for the main HAQ-style claim.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8675" y="3552825"/>
            <a:ext cx="209550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Triangle 26"/>
          <p:cNvSpPr/>
          <p:nvPr/>
        </p:nvSpPr>
        <p:spPr>
          <a:xfrm>
            <a:off x="8572500" y="3505200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24900" y="2714625"/>
            <a:ext cx="2343150" cy="1695450"/>
          </a:xfrm>
          <a:prstGeom prst="rect">
            <a:avLst/>
          </a:prstGeom>
          <a:solidFill>
            <a:srgbClr val="18212B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2886075"/>
            <a:ext cx="6096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E7B071"/>
                </a:solidFill>
                <a:latin typeface="Aptos Display"/>
              </a:rPr>
              <a:t>H10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267075"/>
            <a:ext cx="1809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FFFDF8"/>
                </a:solidFill>
                <a:latin typeface="Aptos"/>
              </a:rPr>
              <a:t>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648075"/>
            <a:ext cx="1866899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0">
                <a:solidFill>
                  <a:srgbClr val="D7E7E8"/>
                </a:solidFill>
                <a:latin typeface="Aptos"/>
              </a:rPr>
              <a:t>Action rows plus solver freeze a policy under quality and resource constraints.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4876800"/>
            <a:ext cx="988695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8212B"/>
                </a:solidFill>
                <a:latin typeface="Aptos Display"/>
              </a:rPr>
              <a:t>The important shift is methodological: H10 does not ask a predictor to be universally right. It asks a measured target probe and backend table to make a narrow decision auditable.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H7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H7 made precision risk observable, but not fully transferable.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905000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Cross-scale 0.5B to 7B predictor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Spearman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195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AUROC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P@4 safe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50" y="2667000"/>
            <a:ext cx="5619750" cy="419100"/>
          </a:xfrm>
          <a:prstGeom prst="rect">
            <a:avLst/>
          </a:prstGeom>
          <a:solidFill>
            <a:srgbClr val="FFF7EB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2724150"/>
            <a:ext cx="1809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1">
                <a:solidFill>
                  <a:srgbClr val="18212B"/>
                </a:solidFill>
                <a:latin typeface="Aptos"/>
              </a:rPr>
              <a:t>Ridge predictor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9900" y="272415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0.536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272415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0.776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1150" y="272415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1.000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50" y="3181350"/>
            <a:ext cx="5619750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238500"/>
            <a:ext cx="1809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"/>
              </a:rPr>
              <a:t>Logistic safe probability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9900" y="323850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0.493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23850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0.760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1150" y="323850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1.000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750" y="3695700"/>
            <a:ext cx="5619750" cy="41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3752850"/>
            <a:ext cx="1809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"/>
              </a:rPr>
              <a:t>Outlier-only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9900" y="375285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0.484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7200" y="375285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0.750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1150" y="3752850"/>
            <a:ext cx="666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0.750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0875" y="1905000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Llama validation: selected fake-int8 modules stayed safe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00875" y="2571750"/>
            <a:ext cx="2381250" cy="2857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00875" y="2571750"/>
            <a:ext cx="1127125" cy="285750"/>
          </a:xfrm>
          <a:prstGeom prst="rect">
            <a:avLst/>
          </a:prstGeom>
          <a:solidFill>
            <a:srgbClr val="2F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25336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MLP2 mean +0.071%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00875" y="3190875"/>
            <a:ext cx="2381250" cy="2857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00875" y="3190875"/>
            <a:ext cx="1174750" cy="285750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15475" y="3152775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Attn+MLP4 mean +0.074%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00875" y="4000500"/>
            <a:ext cx="1619250" cy="285750"/>
          </a:xfrm>
          <a:prstGeom prst="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6125" y="4048124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57A42"/>
                </a:solidFill>
                <a:latin typeface="Aptos"/>
              </a:rPr>
              <a:t>0 spikes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91575" y="4000500"/>
            <a:ext cx="1619250" cy="285750"/>
          </a:xfrm>
          <a:prstGeom prst="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6825" y="4048124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57A42"/>
                </a:solidFill>
                <a:latin typeface="Aptos"/>
              </a:rPr>
              <a:t>0 NaN/Inf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0875" y="4629150"/>
            <a:ext cx="3429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0">
                <a:solidFill>
                  <a:srgbClr val="18212B"/>
                </a:solidFill>
                <a:latin typeface="Aptos Display"/>
              </a:rPr>
              <a:t>Readout: H7 supports target calibration as a risk signal. It does not support claiming that a pure cross-model predictor can replace target perturbation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H8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H8 converted risk labels into a backend-real memory-quality trade-off.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924049"/>
            <a:ext cx="4762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Mean delta vs bf16 across matched RTX 3090 500-step seeds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590800"/>
            <a:ext cx="1428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QLoRA/NF4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3150" y="2571750"/>
            <a:ext cx="2381250" cy="22860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3150" y="2571750"/>
            <a:ext cx="1900237" cy="228600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7750" y="25336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+0.798% 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3150" y="2971800"/>
            <a:ext cx="2381250" cy="22860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3150" y="2971800"/>
            <a:ext cx="2119074" cy="228600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7750" y="293370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-26.70% 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43150" y="3371850"/>
            <a:ext cx="2381250" cy="22860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43150" y="3371850"/>
            <a:ext cx="1876234" cy="22860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7750" y="33337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-19.70% tok/s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2291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Selective rescue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3150" y="4210050"/>
            <a:ext cx="2381250" cy="22860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43150" y="4210050"/>
            <a:ext cx="1624012" cy="228600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7750" y="41719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+0.682% eval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43150" y="4610100"/>
            <a:ext cx="2381250" cy="22860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43150" y="4610100"/>
            <a:ext cx="2006599" cy="228600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7750" y="457200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-25.28% 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43150" y="5010150"/>
            <a:ext cx="2381250" cy="22860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43150" y="5010150"/>
            <a:ext cx="1826323" cy="22860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7750" y="49720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-19.17% tok/s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3750" y="1962150"/>
            <a:ext cx="3238500" cy="27051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8550" y="2305050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E7B071"/>
                </a:solidFill>
                <a:latin typeface="Aptos"/>
              </a:rPr>
              <a:t>What H8 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8550" y="2895600"/>
            <a:ext cx="24765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25" b="0">
                <a:solidFill>
                  <a:srgbClr val="FFFDF8"/>
                </a:solidFill>
                <a:latin typeface="Aptos Display"/>
              </a:rPr>
              <a:t>Selective bf16 rescue improves QLoRA quality while keeping most of the low-bit memory saving.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8550" y="417195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7" b="0">
                <a:solidFill>
                  <a:srgbClr val="D7E7E8"/>
                </a:solidFill>
                <a:latin typeface="Aptos"/>
              </a:rPr>
              <a:t>Improvement over QLoRA: 0.001599 eval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H9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H9 narrowed the inference-side story instead of expanding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2076450"/>
            <a:ext cx="209549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policy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50" y="2076450"/>
            <a:ext cx="209549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quality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0" y="2076450"/>
            <a:ext cx="209549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memory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49" y="2076450"/>
            <a:ext cx="209549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H10 implication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2438400"/>
            <a:ext cx="9620250" cy="6096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" y="257175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8212B"/>
                </a:solidFill>
                <a:latin typeface="Aptos Mono"/>
              </a:rPr>
              <a:t>fp16_default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3250" y="2552700"/>
            <a:ext cx="1200150" cy="285750"/>
          </a:xfrm>
          <a:prstGeom prst="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8500" y="2600325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57A42"/>
                </a:solidFill>
                <a:latin typeface="Aptos"/>
              </a:rPr>
              <a:t>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0" y="2571750"/>
            <a:ext cx="1571625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8212B"/>
                </a:solidFill>
                <a:latin typeface="Aptos"/>
              </a:rPr>
              <a:t>~0%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49" y="25717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18212B"/>
                </a:solidFill>
                <a:latin typeface="Aptos"/>
              </a:rPr>
              <a:t>safe small latency win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50" y="3314700"/>
            <a:ext cx="9620250" cy="609600"/>
          </a:xfrm>
          <a:prstGeom prst="rect">
            <a:avLst/>
          </a:prstGeom>
          <a:solidFill>
            <a:srgbClr val="FFF7EB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" y="344805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8212B"/>
                </a:solidFill>
                <a:latin typeface="Aptos Mono"/>
              </a:rPr>
              <a:t>FP8 KV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43250" y="3429000"/>
            <a:ext cx="1200150" cy="285750"/>
          </a:xfrm>
          <a:prstGeom prst="rect">
            <a:avLst/>
          </a:prstGeom>
          <a:solidFill>
            <a:srgbClr val="E7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8500" y="3476625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57A42"/>
                </a:solidFill>
                <a:latin typeface="Aptos"/>
              </a:rPr>
              <a:t>passes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9750" y="3448050"/>
            <a:ext cx="1571625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A34E5C"/>
                </a:solidFill>
                <a:latin typeface="Aptos"/>
              </a:rPr>
              <a:t>+3.6%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49" y="34480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18212B"/>
                </a:solidFill>
                <a:latin typeface="Aptos"/>
              </a:rPr>
              <a:t>not a memory policy 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750" y="4190999"/>
            <a:ext cx="9620250" cy="6096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" y="4324350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8212B"/>
                </a:solidFill>
                <a:latin typeface="Aptos Mono"/>
              </a:rPr>
              <a:t>fp16_bitsandbytes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43250" y="4305300"/>
            <a:ext cx="1200150" cy="285750"/>
          </a:xfrm>
          <a:prstGeom prst="rect">
            <a:avLst/>
          </a:prstGeom>
          <a:solidFill>
            <a:srgbClr val="F3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8500" y="4352925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34E5C"/>
                </a:solidFill>
                <a:latin typeface="Aptos"/>
              </a:rPr>
              <a:t>fails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750" y="4324350"/>
            <a:ext cx="1571625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8212B"/>
                </a:solidFill>
                <a:latin typeface="Aptos"/>
              </a:rPr>
              <a:t>+3.0%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49" y="432435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18212B"/>
                </a:solidFill>
                <a:latin typeface="Aptos"/>
              </a:rPr>
              <a:t>systems artifact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5276850"/>
            <a:ext cx="81915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0">
                <a:solidFill>
                  <a:srgbClr val="18212B"/>
                </a:solidFill>
                <a:latin typeface="Aptos Display"/>
              </a:rPr>
              <a:t>Readout: vLLM global knobs are measurable but too coarse to be the main HAQ-style contribution. The stronger path is selective module/group assignment from a quantized weight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H10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H10 turns the evidence chain into a constrained solver.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050" y="2190750"/>
            <a:ext cx="2238375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381250"/>
            <a:ext cx="1809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target probes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781300"/>
            <a:ext cx="18097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59636F"/>
                </a:solidFill>
                <a:latin typeface="Aptos Mono"/>
              </a:rPr>
              <a:t>unsafe projection labels
per model / seed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4675" y="2743200"/>
            <a:ext cx="523874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Triangle 13"/>
          <p:cNvSpPr/>
          <p:nvPr/>
        </p:nvSpPr>
        <p:spPr>
          <a:xfrm>
            <a:off x="3552825" y="2695575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33799" y="2190750"/>
            <a:ext cx="2238375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5249" y="2381250"/>
            <a:ext cx="1809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backend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249" y="2781300"/>
            <a:ext cx="18097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59636F"/>
                </a:solidFill>
                <a:latin typeface="Aptos Mono"/>
              </a:rPr>
              <a:t>quality, memory,
throughput deltas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7425" y="2743200"/>
            <a:ext cx="523874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6505575" y="2695575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86550" y="2190750"/>
            <a:ext cx="2238375" cy="11239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81250"/>
            <a:ext cx="180975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action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81300"/>
            <a:ext cx="18097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59636F"/>
                </a:solidFill>
                <a:latin typeface="Aptos Mono"/>
              </a:rPr>
              <a:t>group, action,
selector, 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3799" y="4095750"/>
            <a:ext cx="3390900" cy="10668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0500" y="43243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E7B071"/>
                </a:solidFill>
                <a:latin typeface="Aptos"/>
              </a:rPr>
              <a:t>constrained assignment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500" y="4724400"/>
            <a:ext cx="2809875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D7E7E8"/>
                </a:solidFill>
                <a:latin typeface="Aptos Mono"/>
              </a:rPr>
              <a:t>epsilon=0.01, memory saving required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3381375"/>
            <a:ext cx="0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Triangle 26"/>
          <p:cNvSpPr/>
          <p:nvPr/>
        </p:nvSpPr>
        <p:spPr>
          <a:xfrm>
            <a:off x="5400675" y="3962399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6249" y="4095750"/>
            <a:ext cx="2381250" cy="1066800"/>
          </a:xfrm>
          <a:prstGeom prst="rect">
            <a:avLst/>
          </a:prstGeom>
          <a:solidFill>
            <a:srgbClr val="E7F0EA"/>
          </a:solidFill>
          <a:ln w="9525">
            <a:solidFill>
              <a:srgbClr val="657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4375" y="4333875"/>
            <a:ext cx="1952624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212B"/>
                </a:solidFill>
                <a:latin typeface="Aptos"/>
              </a:rPr>
              <a:t>frozen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375" y="4733925"/>
            <a:ext cx="1952624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 Mono"/>
              </a:rPr>
              <a:t>QLoRA/NF4 + bf16 projection rescue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81850" y="4619625"/>
            <a:ext cx="819150" cy="19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Triangle 31"/>
          <p:cNvSpPr/>
          <p:nvPr/>
        </p:nvSpPr>
        <p:spPr>
          <a:xfrm>
            <a:off x="7915275" y="4572000"/>
            <a:ext cx="114300" cy="114300"/>
          </a:xfrm>
          <a:prstGeom prst="rtTriangle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050" y="54292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8212B"/>
                </a:solidFill>
                <a:latin typeface="Aptos Display"/>
              </a:rPr>
              <a:t>This is the PEFT version of HAQ's durable idea: optimize precision policy against measured hardware behavior instead of accepting a global dtype recipe.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SELECTOR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Selector evidence pushes H10 toward target perturbation, not pure prediction.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952624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Llama-3.1-8B projection rescue selectors at k=4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438400"/>
            <a:ext cx="209549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selector 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0" y="2438400"/>
            <a:ext cx="209549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unsafe projection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7624" y="2438400"/>
            <a:ext cx="209549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59636F"/>
                </a:solidFill>
                <a:latin typeface="Aptos"/>
              </a:rPr>
              <a:t>predicted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2743200"/>
            <a:ext cx="9429750" cy="400050"/>
          </a:xfrm>
          <a:prstGeom prst="rect">
            <a:avLst/>
          </a:prstGeom>
          <a:solidFill>
            <a:srgbClr val="E6F2F3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2819400"/>
            <a:ext cx="26193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"/>
              </a:rPr>
              <a:t>Target perturbation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5750" y="2838450"/>
            <a:ext cx="2000250" cy="1714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95750" y="2838450"/>
            <a:ext cx="2000250" cy="171450"/>
          </a:xfrm>
          <a:prstGeom prst="rect">
            <a:avLst/>
          </a:prstGeom>
          <a:solidFill>
            <a:srgbClr val="2F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9350" y="28003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3/3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7624" y="28194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 Mono"/>
              </a:rPr>
              <a:t>0.00681742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50" y="3267075"/>
            <a:ext cx="942975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3343275"/>
            <a:ext cx="26193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8212B"/>
                </a:solidFill>
                <a:latin typeface="Aptos"/>
              </a:rPr>
              <a:t>Activation outlier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95750" y="3362325"/>
            <a:ext cx="2000250" cy="1714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95750" y="3362325"/>
            <a:ext cx="666750" cy="1714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9350" y="3324225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1/3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7624" y="3343275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 Mono"/>
              </a:rPr>
              <a:t>0.00759471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750" y="3790949"/>
            <a:ext cx="942975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300" y="3867150"/>
            <a:ext cx="26193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8212B"/>
                </a:solidFill>
                <a:latin typeface="Aptos"/>
              </a:rPr>
              <a:t>INT8 MSE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95750" y="3886200"/>
            <a:ext cx="2000250" cy="1714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95750" y="3886200"/>
            <a:ext cx="666750" cy="1714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9350" y="3848099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1/3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7624" y="38671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 Mono"/>
              </a:rPr>
              <a:t>0.00759471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6750" y="4314825"/>
            <a:ext cx="942975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300" y="4391025"/>
            <a:ext cx="26193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8212B"/>
                </a:solidFill>
                <a:latin typeface="Aptos"/>
              </a:rPr>
              <a:t>Role prior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95750" y="4410075"/>
            <a:ext cx="2000250" cy="1714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95750" y="4410075"/>
            <a:ext cx="666750" cy="1714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9350" y="4371975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1/3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7624" y="4391025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 Mono"/>
              </a:rPr>
              <a:t>0.00759471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6750" y="4838700"/>
            <a:ext cx="9429750" cy="40005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300" y="4914900"/>
            <a:ext cx="26193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8212B"/>
                </a:solidFill>
                <a:latin typeface="Aptos"/>
              </a:rPr>
              <a:t>Cross-model predictors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95750" y="4933950"/>
            <a:ext cx="2000250" cy="171450"/>
          </a:xfrm>
          <a:prstGeom prst="rect">
            <a:avLst/>
          </a:prstGeom>
          <a:solidFill>
            <a:srgbClr val="EF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95750" y="4933950"/>
            <a:ext cx="666750" cy="171450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9350" y="4895850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75" b="1">
                <a:solidFill>
                  <a:srgbClr val="18212B"/>
                </a:solidFill>
                <a:latin typeface="Aptos"/>
              </a:rPr>
              <a:t>1/3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7624" y="49149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8212B"/>
                </a:solidFill>
                <a:latin typeface="Aptos Mono"/>
              </a:rPr>
              <a:t>0.00759471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750" y="5657850"/>
            <a:ext cx="86677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25" b="0">
                <a:solidFill>
                  <a:srgbClr val="18212B"/>
                </a:solidFill>
                <a:latin typeface="Aptos Display"/>
              </a:rPr>
              <a:t>Interpretation: cheap signals help triage candidates, but the defensible main method still includes a short target perturbation check before assignment.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CURRENT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The current selected policy is narrow, measurable, and freezeable.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2095499"/>
            <a:ext cx="238125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2095499"/>
            <a:ext cx="66675" cy="1104900"/>
          </a:xfrm>
          <a:prstGeom prst="rect">
            <a:avLst/>
          </a:prstGeom>
          <a:solidFill>
            <a:srgbClr val="2F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22669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18212B"/>
                </a:solidFill>
                <a:latin typeface="Aptos Display"/>
              </a:rPr>
              <a:t>epsilon &lt; 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667000"/>
            <a:ext cx="200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59636F"/>
                </a:solidFill>
                <a:latin typeface="Aptos"/>
              </a:rPr>
              <a:t>quality-risk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8956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2" b="0">
                <a:solidFill>
                  <a:srgbClr val="59636F"/>
                </a:solidFill>
                <a:latin typeface="Aptos"/>
              </a:rPr>
              <a:t>selected risk: 0.00681742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6125" y="2095499"/>
            <a:ext cx="238125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6125" y="2095499"/>
            <a:ext cx="66675" cy="1104900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5675" y="22669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18212B"/>
                </a:solidFill>
                <a:latin typeface="Aptos Display"/>
              </a:rPr>
              <a:t>-5.105 GiB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5675" y="2667000"/>
            <a:ext cx="200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59636F"/>
                </a:solidFill>
                <a:latin typeface="Aptos"/>
              </a:rPr>
              <a:t>memory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5675" y="28956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2" b="0">
                <a:solidFill>
                  <a:srgbClr val="59636F"/>
                </a:solidFill>
                <a:latin typeface="Aptos"/>
              </a:rPr>
              <a:t>must save at least 4 GiB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5500" y="2095499"/>
            <a:ext cx="2381250" cy="11049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05500" y="2095499"/>
            <a:ext cx="66675" cy="110490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050" y="226695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75" b="1">
                <a:solidFill>
                  <a:srgbClr val="18212B"/>
                </a:solidFill>
                <a:latin typeface="Aptos Display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5050" y="2667000"/>
            <a:ext cx="200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59636F"/>
                </a:solidFill>
                <a:latin typeface="Aptos"/>
              </a:rPr>
              <a:t>instability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5050" y="2895600"/>
            <a:ext cx="2000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2" b="0">
                <a:solidFill>
                  <a:srgbClr val="59636F"/>
                </a:solidFill>
                <a:latin typeface="Aptos"/>
              </a:rPr>
              <a:t>no spikes or NaN/Inf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10600" y="1943100"/>
            <a:ext cx="2095499" cy="1524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8250" y="2190750"/>
            <a:ext cx="1571625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E7B071"/>
                </a:solidFill>
                <a:latin typeface="Aptos"/>
              </a:rPr>
              <a:t>solver 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0" y="2571750"/>
            <a:ext cx="15811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75" b="1">
                <a:solidFill>
                  <a:srgbClr val="FFFDF8"/>
                </a:solidFill>
                <a:latin typeface="Aptos Display"/>
              </a:rPr>
              <a:t>bf16 projection rescue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" y="40386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18212B"/>
                </a:solidFill>
                <a:latin typeface="Aptos"/>
              </a:rPr>
              <a:t>Perturbation-selected rescue modules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750" y="4476750"/>
            <a:ext cx="3714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4572000"/>
            <a:ext cx="3333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 Mono"/>
              </a:rPr>
              <a:t>layers.31.mlp.up_proj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625" y="4476750"/>
            <a:ext cx="3714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2075" y="4572000"/>
            <a:ext cx="3333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 Mono"/>
              </a:rPr>
              <a:t>layers.31.mlp.gate_proj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750" y="5029200"/>
            <a:ext cx="3714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" y="5124450"/>
            <a:ext cx="3333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 Mono"/>
              </a:rPr>
              <a:t>layers.2.mlp.down_proj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0625" y="5029200"/>
            <a:ext cx="3714750" cy="38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72075" y="5124450"/>
            <a:ext cx="3333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12" b="0">
                <a:solidFill>
                  <a:srgbClr val="18212B"/>
                </a:solidFill>
                <a:latin typeface="Aptos Mono"/>
              </a:rPr>
              <a:t>layers.30.mlp.gate_proj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0" y="4190999"/>
            <a:ext cx="1762125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8212B"/>
                </a:solidFill>
                <a:latin typeface="Aptos Display"/>
              </a:rPr>
              <a:t>Next validation: run the perturbation-selected Llama rescue set as a frozen GPU policy, then compare against QLoRA and bf16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476250"/>
            <a:ext cx="133350" cy="13335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09575"/>
            <a:ext cx="2381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59636F"/>
                </a:solidFill>
                <a:latin typeface="Aptos"/>
              </a:rPr>
              <a:t>CLAIM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819150"/>
            <a:ext cx="876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25" b="1">
                <a:solidFill>
                  <a:srgbClr val="18212B"/>
                </a:solidFill>
                <a:latin typeface="Aptos Display"/>
              </a:rPr>
              <a:t>The paper-ready claim is strong only inside a deliberate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191250"/>
            <a:ext cx="10429875" cy="9525"/>
          </a:xfrm>
          <a:prstGeom prst="rect">
            <a:avLst/>
          </a:prstGeom>
          <a:solidFill>
            <a:srgbClr val="D8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6286500"/>
            <a:ext cx="8286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7" b="0">
                <a:solidFill>
                  <a:srgbClr val="59636F"/>
                </a:solidFill>
                <a:latin typeface="Aptos"/>
              </a:rPr>
              <a:t>Sources: local H7-H10 analysis artifacts, 2026-05-20 to 2026-05-27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2484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8212B"/>
                </a:solidFill>
                <a:latin typeface="Aptos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2095499"/>
            <a:ext cx="2876550" cy="28956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2095499"/>
            <a:ext cx="2876550" cy="76200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2400300"/>
            <a:ext cx="2190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25" b="1">
                <a:solidFill>
                  <a:srgbClr val="18212B"/>
                </a:solidFill>
                <a:latin typeface="Aptos"/>
              </a:rPr>
              <a:t>supported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350" y="3057525"/>
            <a:ext cx="66675" cy="66675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850" y="299085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H10 expresses H8 as a backend-aware action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350" y="3648075"/>
            <a:ext cx="66675" cy="66675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5850" y="358140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The solver selects selective bf16 rescue under locked gates.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350" y="4238625"/>
            <a:ext cx="66675" cy="66675"/>
          </a:xfrm>
          <a:prstGeom prst="rect">
            <a:avLst/>
          </a:prstGeom>
          <a:solidFill>
            <a:srgbClr val="657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5850" y="417195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Target perturbation is the strongest current selector.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500" y="2095499"/>
            <a:ext cx="2876550" cy="28956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0500" y="2095499"/>
            <a:ext cx="2876550" cy="76200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0050" y="2400300"/>
            <a:ext cx="2190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25" b="1">
                <a:solidFill>
                  <a:srgbClr val="18212B"/>
                </a:solidFill>
                <a:latin typeface="Aptos"/>
              </a:rPr>
              <a:t>not yet supported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9100" y="3057525"/>
            <a:ext cx="66675" cy="66675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9600" y="299085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A fully general optimizer over all Transformer modules.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9100" y="3648075"/>
            <a:ext cx="66675" cy="66675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9600" y="358140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A pure learned predictor replacing target perturbation.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9100" y="4238625"/>
            <a:ext cx="66675" cy="66675"/>
          </a:xfrm>
          <a:prstGeom prst="rect">
            <a:avLst/>
          </a:prstGeom>
          <a:solidFill>
            <a:srgbClr val="A3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417195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A throughput win from the selected PEFT policy.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4250" y="2095499"/>
            <a:ext cx="2876550" cy="2895600"/>
          </a:xfrm>
          <a:prstGeom prst="rect">
            <a:avLst/>
          </a:prstGeom>
          <a:solidFill>
            <a:srgbClr val="FFFDF8"/>
          </a:solidFill>
          <a:ln w="9525">
            <a:solidFill>
              <a:srgbClr val="D8C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4250" y="2095499"/>
            <a:ext cx="2876550" cy="76200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400300"/>
            <a:ext cx="2190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25" b="1">
                <a:solidFill>
                  <a:srgbClr val="18212B"/>
                </a:solidFill>
                <a:latin typeface="Aptos"/>
              </a:rPr>
              <a:t>next best step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2850" y="3057525"/>
            <a:ext cx="66675" cy="66675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3349" y="299085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Validate the perturbation-selected Llama rescue set.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62850" y="3648075"/>
            <a:ext cx="66675" cy="66675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3349" y="358140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If GPU time is scarce, write the method section now.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2850" y="4238625"/>
            <a:ext cx="66675" cy="66675"/>
          </a:xfrm>
          <a:prstGeom prst="rect">
            <a:avLst/>
          </a:prstGeom>
          <a:solidFill>
            <a:srgbClr val="C77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3349" y="4171950"/>
            <a:ext cx="209549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89" b="0">
                <a:solidFill>
                  <a:srgbClr val="18212B"/>
                </a:solidFill>
                <a:latin typeface="Aptos"/>
              </a:rPr>
              <a:t>Frame H9 as boundary-setting infrastructure.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750" y="5410200"/>
            <a:ext cx="9525000" cy="400050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5350" y="5505450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FFFDF8"/>
                </a:solidFill>
                <a:latin typeface="Aptos Display"/>
              </a:rPr>
              <a:t>Recommended report title: Calibration-guided, hardware-aware PEFT precision assignment.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