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ca391fd604e67" /><Relationship Type="http://schemas.openxmlformats.org/officeDocument/2006/relationships/extended-properties" Target="/docProps/app.xml" Id="R24e66762c69846b8" /><Relationship Type="http://schemas.openxmlformats.org/officeDocument/2006/relationships/officeDocument" Target="/ppt/presentation.xml" Id="Ra739e59258d84e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16bec30fa48d4"/>
  </p:sldMasterIdLst>
  <p:notesMasterIdLst>
    <p:notesMasterId xmlns:r="http://schemas.openxmlformats.org/officeDocument/2006/relationships" r:id="Rda3017e63efa4b84"/>
  </p:notesMasterIdLst>
  <p:sldIdLst>
    <p:sldId xmlns:r="http://schemas.openxmlformats.org/officeDocument/2006/relationships" id="256" r:id="Rc8c98a0d9512432e"/>
    <p:sldId xmlns:r="http://schemas.openxmlformats.org/officeDocument/2006/relationships" id="257" r:id="R28c698ff35984ad0"/>
    <p:sldId xmlns:r="http://schemas.openxmlformats.org/officeDocument/2006/relationships" id="258" r:id="R0e4e3fd73f234ae0"/>
    <p:sldId xmlns:r="http://schemas.openxmlformats.org/officeDocument/2006/relationships" id="259" r:id="Ra66e9e1d2d1e42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16bec30fa48d4" /><Relationship Type="http://schemas.openxmlformats.org/officeDocument/2006/relationships/theme" Target="/ppt/theme/theme1.xml" Id="Rec89f250318c488e" /><Relationship Type="http://schemas.openxmlformats.org/officeDocument/2006/relationships/notesMaster" Target="/ppt/notesMasters/notesMaster1.xml" Id="Rda3017e63efa4b84" /><Relationship Type="http://schemas.openxmlformats.org/officeDocument/2006/relationships/presProps" Target="/ppt/presProps.xml" Id="R5b6045e23e6d470d" /><Relationship Type="http://schemas.openxmlformats.org/officeDocument/2006/relationships/viewProps" Target="/ppt/viewProps.xml" Id="R962d133371924db0" /><Relationship Type="http://schemas.openxmlformats.org/officeDocument/2006/relationships/tableStyles" Target="/ppt/tableStyles.xml" Id="Reb79e5371f994f62" /><Relationship Type="http://schemas.openxmlformats.org/officeDocument/2006/relationships/slide" Target="/ppt/slides/slide1.xml" Id="Rc8c98a0d9512432e" /><Relationship Type="http://schemas.openxmlformats.org/officeDocument/2006/relationships/slide" Target="/ppt/slides/slide2.xml" Id="R28c698ff35984ad0" /><Relationship Type="http://schemas.openxmlformats.org/officeDocument/2006/relationships/slide" Target="/ppt/slides/slide3.xml" Id="R0e4e3fd73f234ae0" /><Relationship Type="http://schemas.openxmlformats.org/officeDocument/2006/relationships/slide" Target="/ppt/slides/slide4.xml" Id="Ra66e9e1d2d1e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5ebcab6923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78f1ecdbd4231" /><Relationship Type="http://schemas.openxmlformats.org/officeDocument/2006/relationships/notesMaster" Target="/ppt/notesMasters/notesMaster1.xml" Id="Rcccd23ac6514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2273656d34bb5" /><Relationship Type="http://schemas.openxmlformats.org/officeDocument/2006/relationships/notesMaster" Target="/ppt/notesMasters/notesMaster1.xml" Id="R04aba4b552f940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dfb1f6fd7c457f" /><Relationship Type="http://schemas.openxmlformats.org/officeDocument/2006/relationships/notesMaster" Target="/ppt/notesMasters/notesMaster1.xml" Id="R1653e8ad017f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21de09d8734824" /><Relationship Type="http://schemas.openxmlformats.org/officeDocument/2006/relationships/notesMaster" Target="/ppt/notesMasters/notesMaster1.xml" Id="R2783a1fb0373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48d1e768747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4d9282d5d546d2" /><Relationship Type="http://schemas.openxmlformats.org/officeDocument/2006/relationships/slideLayout" Target="/ppt/slideLayouts/slideLayout2.xml" Id="R919200fc004b44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9200fc004b44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7c6d6bf8846aa" /><Relationship Type="http://schemas.openxmlformats.org/officeDocument/2006/relationships/notesSlide" Target="/ppt/notesSlides/notesSlide1.xml" Id="Rf98a05693ca6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9232e347e3459c" /><Relationship Type="http://schemas.openxmlformats.org/officeDocument/2006/relationships/image" Target="/ppt/media/image.png" Id="R1119b36b3b0e4989" /><Relationship Type="http://schemas.openxmlformats.org/officeDocument/2006/relationships/notesSlide" Target="/ppt/notesSlides/notesSlide2.xml" Id="R93a3faa3ab67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be66d6e8d4292" /><Relationship Type="http://schemas.openxmlformats.org/officeDocument/2006/relationships/image" Target="/ppt/media/image2.png" Id="R93203935fb3c4ffa" /><Relationship Type="http://schemas.openxmlformats.org/officeDocument/2006/relationships/image" Target="/ppt/media/image3.png" Id="R3dfc9f3d9fa84482" /><Relationship Type="http://schemas.openxmlformats.org/officeDocument/2006/relationships/notesSlide" Target="/ppt/notesSlides/notesSlide3.xml" Id="Rc31db430f9e34a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c79e03e8e4fcd" /><Relationship Type="http://schemas.openxmlformats.org/officeDocument/2006/relationships/notesSlide" Target="/ppt/notesSlides/notesSlide4.xml" Id="R03d02616c3cc4a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6BFAC1-1046-415F-880E-D6EB36B0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41D7-2B3C-40AD-95FB-12A67D6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-110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7ABAD-D3B1-4177-A819-04BC690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05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07B3E-5A8E-4CB5-97AA-006357EA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/ CVPR 2020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CBBEE-9918-4BA5-A79A-49F19BB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AdaBits 想解決的痛點：量化模型太「固定」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6BF92-FF4A-4E2B-9574-4C8E3913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446EC-6740-4797-B2F7-6C411F80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F3E42-9814-4473-BBA2-4B409F8B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A7CB5-2B3E-4B1C-B6D5-22124A01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5DB85-FE8B-4BD3-B52F-CD4C670C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CCDB8-7487-4571-928D-8329D6B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77104-C7BA-44A2-AA00-3BF908C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FDAD8-3365-4EBE-8419-2919511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23FF8-59FE-4837-84FF-6433919F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B6CF0-AF44-4502-B3B2-54775F2F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42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過去研究多半在追求單一模型的低位元效率，但部署現場的運算預算會變動：同一個任務可能要在不同電量、延遲、晶片條件下切換。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3E66A-AF25-4F5B-844E-51D93B97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2478C-30DA-4447-AAA6-B242456D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過去方向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42B64-22CE-4A6C-8D28-F2F0DDBC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DE35B-F7A7-4DA6-8324-E9EDD0A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不足處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3100C-446E-462F-BE45-64E0850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6852A-0188-4F7E-9413-30E1EA5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88C8E-6D0F-4DC7-86B7-0AE2924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固定 bit-width 量化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FF812-5E6A-41CB-905B-9CB39639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例如 8/6/4/2-bit 各自訓練一個模型，能降低模型大小、延遲與能耗。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FF77F-C06B-4A62-9AA5-BAA6158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335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C873C-4885-4779-80D7-A57B9F6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91D50-A233-407B-BA9C-031DD3B3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部署成本被複製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041F8-A6EC-48CA-A9C8-4B470867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每種資源情境都要維護一份模型；切換成本變成儲存、校正與版本管理問題。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ABA49F-2879-403E-BFDE-ADA938D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3352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2D2FD-AACE-41AB-B946-F0D8F35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F55F35-6044-4191-9E19-B9611B1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自適應網路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2AA58-A9D4-41DC-8703-3D55C1CE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過去常調整 channel、depth、kernel size、resolution；bit-width 尚未被當成可即時切換的自由度。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597518-C9CC-471A-A622-2B4B36E6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3352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AB3001-C91A-45DC-9535-048936D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A1F14-AAA7-4B7C-A749-5F3F9AB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719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簡單套用會掉準確率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CFB8CD-56E9-47CE-90FE-4E3D01E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3028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直接把 4-bit 模型拿去跑 2-bit，或逐步 fine-tune 多個位元，會遇到 layer statistics 與 clipping 參數不匹配。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45D49-4E42-4DD3-8ECD-4AD84763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98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C7B3F2-2B45-4BD2-A752-61F9734E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核心問題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17972E-791D-443B-9F91-A9E9C36C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C9D8BE-999A-4605-BCFE-E24B3EFD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能不能只訓練一個量化模型？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CFB2E-CC9E-43BB-8065-7A05406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D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6AB526-DBE3-40FE-807E-41C970C5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部署時依資源切換 bit-width？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683750-0B16-4A03-9BBF-8C874A0A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Jin et al., AdaBits, CVPR 2020 / CVF Open Access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D50184-F748-4F49-82E9-D91D316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578C66-FC6D-4F35-9E3D-A516071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67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1807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136D6-7163-4278-8D54-2B7D0CA0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EA4D7-501E-4D52-B1C1-F94A53E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-110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88C6D-D93C-4262-9A17-83BB54D8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05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4F34C-0512-4339-A2DA-090E010B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/ CVPR 2020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64190-56F0-4763-B299-B1801DE6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核心概念：把 bit-width 變成部署時可切換的自由度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C76E-3C48-4A8C-863B-45C986E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B86F2-28A1-4E64-A241-7C56D72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65A42-10B1-44E1-B955-05F1AE2D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2931D-8560-4BD8-B56C-6DBB8ADF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A221B-18D2-4E54-A9C9-BDC63483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F6D4F-8121-4EF0-B9D7-656CC7D5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9D9ED-5B99-488C-B636-75A6078C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894D2-D6F8-4FC5-8BE4-61681A8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E0C59-9917-47A5-B894-90E593E3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9b36b3b0e4989"/>
          <a:stretch xmlns:a="http://schemas.openxmlformats.org/drawingml/2006/main"/>
        </p:blipFill>
        <p:spPr>
          <a:xfrm xmlns:a="http://schemas.openxmlformats.org/drawingml/2006/main">
            <a:off x="704850" y="1372555"/>
            <a:ext cx="6762750" cy="270319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6F4F5-A175-4DE6-B053-45C0BC29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6343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Figure 1 的訊息：左邊是不同 bit-width 各自訓練；右邊是單一 adaptive-bit 模型，部署時依裝置條件切到適合位元。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61730-948D-44EE-A962-FFA028C4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05D1A-23F5-42F8-BF70-5102BD2D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訓練/部署邏輯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C1604-ADB0-4F8E-AA9F-7218F79C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51F33-02EA-4B65-AB48-10E7059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共同權重：不同 bit-width 共用同一份 backbone weights。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FEF4B-F421-4D65-B797-3082FE15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6A99C-C165-4F1C-9F6B-25F5E2C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Joint quantization：訓練時同時優化多個 bit-width，而不是依序 fine-tune。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FBF28-B7F5-4B83-956F-98A0D71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999C0-EFF6-4BCE-A916-BABAEABE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Switchable BN：不同 bit-width 保留各自 batch norm 統計，避免 layer statistics mismatch。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1A46B-CD4A-4D55-BC6D-C3F7A7ED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B5C3A-900B-4A65-A903-658CB0C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338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Switchable Clipping Level：activation clipping level 也依 bit-width 切換。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4748D-336D-4A1C-8047-F0088F75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791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CA563-74B9-4867-A618-2D83DFCE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直覺：不是找一個「平均可用」的量化參數，而是在同一模型中保留各 bit-width 真正需要的 normalization / clipping 狀態。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C98AEF-4179-4699-9C0B-0733D5A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Figure adapted from Jin et al., AdaBits, CVPR 2020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F612A-DD3D-4A31-8E0E-08D3F816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6FC77-A7E7-4C13-BDF3-3292C63E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67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24555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5F147-5767-4478-9F38-32BAEEDE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C7312-6386-42D5-89E0-51C094ED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-110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6EE3F-87CB-4C9A-A384-64C1E407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05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EDCC5-7421-4A54-8B3E-2E9ABF68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/ CVPR 2020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7B75E-3087-42AC-8AB3-C796D237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關鍵觀察：低位元不只是更粗，統計與 clipping 需求也不同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8A9E5-2716-476D-8CE9-4D14CBF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F5FAE-783A-46A6-8CC0-AF02AFB1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69C24-E6E0-4753-9A92-9D5A109B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CD7A1-F491-4748-86B3-DE36E19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8E327-8C96-46BA-9560-88202EE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8CD02-F912-4506-B1F9-DD9A1DB5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28BF8-AD67-4F48-9A3C-F4DAB77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B80DA-29C2-4408-BA85-09BB7507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6E79E-6C5B-4F73-90DD-E0772F3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03935fb3c4ffa"/>
          <a:stretch xmlns:a="http://schemas.openxmlformats.org/drawingml/2006/main"/>
        </p:blipFill>
        <p:spPr>
          <a:xfrm xmlns:a="http://schemas.openxmlformats.org/drawingml/2006/main">
            <a:off x="666750" y="1392754"/>
            <a:ext cx="5143500" cy="1643616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4C842-900F-48DA-BC89-68C618EB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修改後的量化 mapping 讓高 bit 權重可以直接丟掉低位元，支援從高位元往低位元切換。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c9f3d9fa84482"/>
          <a:stretch xmlns:a="http://schemas.openxmlformats.org/drawingml/2006/main"/>
        </p:blipFill>
        <p:spPr>
          <a:xfrm xmlns:a="http://schemas.openxmlformats.org/drawingml/2006/main">
            <a:off x="920180" y="3810000"/>
            <a:ext cx="4446140" cy="2686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6AC5-D035-4324-91F7-69F094F3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E146A-F797-46F0-A7CC-540DFEDB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859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的機制設計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CC080-C411-43CB-BA02-FAAC030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3C6E8-DFD6-4C20-9361-B6ACA155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觀察 1：bit-width 越低，量化後 weights / activations 的 variance 放大越明顯。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3F92B-3B5F-42B0-B229-605D2F1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FD5C4-1F11-43D2-9DFE-8088665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觀察 2：不同 bit-width 的最佳 clipping level 不同；共享 clipping 會互相干擾。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80962-8750-4AC7-A896-BC83ECF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BC462-9588-439E-B67B-151E593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解法 A：Switchable BN，讓每個 bit-width 有自己的 BN 統計。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05014-7BA2-4EC8-81E1-8CF6479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71FCE-4582-4833-9EAC-072E7D28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解法 B：S-CL，讓每個 bit-width 有自己的 activation clipping level。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79148-05BA-4813-B337-4CEFEDC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3CBDF9-83F9-4D24-809F-AF06DE7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解法 C：Joint training，在同一輪訓練中同時約束多個 bit-width，而不是事後補救。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FBB27-BAD4-4D3D-94FE-13D44BC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57850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E9D77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B7468-6417-4CE0-AD01-0006F78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00725"/>
            <a:ext cx="363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重點：AdaBits 把「同一模型、多組量化狀態」當成設計原則。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68C1AB-5D46-4FFE-8CAC-538A0B9A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Figures adapted from Jin et al., AdaBits, CVPR 2020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27A106-B2A0-4E24-BCAC-70B50CCB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BFF07-F23F-4615-933F-24EB5ABA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67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24986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33EFF-18C0-4CA4-873F-90065614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E3723-2E69-4298-B5CC-C7F4A7B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-11049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5BEE9-9409-4BB1-BADA-031D56EE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905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DE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7B0C4-906B-43BC-8118-B49F838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86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1">
                <a:solidFill>
                  <a:srgbClr val="0B376D"/>
                </a:solidFill>
                <a:latin typeface="Noto Sans CJK TC"/>
                <a:ea typeface="Noto Sans CJK TC"/>
                <a:cs typeface="Noto Sans CJK TC"/>
              </a:rPr>
              <a:t>AdaBits / CVPR 2020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68E37-E6BD-4DEA-BC41-A4C9CC2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主要結果：一個模型接近多個獨立量化模型的準確率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920DB-3459-44D7-A593-00345F3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31FB1-2DF4-4F13-819F-0E9B063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CC845-BD5A-4BE6-A6BD-55D5BE4C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40FA8-D3BE-4B3E-B44F-BA4D439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C4F94-09BE-4B71-BEA3-C474526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755BD-F0ED-4CF3-A59D-411A50F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66507-3D09-4DF7-B2FB-287FA87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7AA25-2733-48C2-9CF5-8303A47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4638E-2C75-4EB4-9156-6B74CDA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191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5F816-D046-4E4E-83B5-92001E5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ImageNet Top-1 accuracy 摘要（論文 Table 4，括號為 AdaBits 相對各自 SAT baseline 的差距）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90681-C9D7-4F68-85C7-B871619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9CA6A-DCF0-4848-A991-2424A26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B1093-4A64-4404-8626-61E184F0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10E50-A540-4218-82BD-6C6D4C7F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002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bit-width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910F5-590F-419D-A9FF-6AB212E1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33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03D2B-6B96-4145-8F1B-92B00A02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02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SAT 個別模型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2DC61-EBB8-4E97-B15F-564370AF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33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9932C-24A3-4219-99C5-2967FD17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02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AdaBits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A31519-1166-4DE0-A5FF-63CA70F6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7C516-3058-4F47-8C91-02F022D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BitOPs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AEB8A-9C62-4C38-B082-219F13EC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8CA70-D2A8-40DC-AF22-11D0B1C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MobileNet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8BA87-9272-4178-A7AE-389D0F5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A382C-FB29-4816-B183-65CDB9E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027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8 / 6 / 5 /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2DB3AE-9308-4B37-9DD5-71703FE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22528-C59A-4F0C-921E-AAE55335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72.6 / 72.3 / 71.9 / 71.3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A6F63-C621-400A-9A9A-17F70007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09FC91-26A6-443B-BBB2-9CC03F9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72.4 / 72.4 / 72.1 / 71.1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93973-6B6B-4CF2-9CAD-FE1E005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E1850-AC8D-40B3-9A84-162B0DEE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027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36.4B → 9.7B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DA9F1-9285-4AA8-BD59-FF74E05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2C6FBA-E3A9-4177-AE84-F5C5B6E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MobileNet V2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B7544C-7099-47CB-A1F7-429A4234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67CBB-9CBD-4BD2-9DE5-BD6814F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03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8 / 6 / 5 / 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3B8F2E-49B0-400C-916F-ACA06D36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33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42B685-958E-499B-BBD4-EB18526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72.5 / 72.3 / 72.0 / 71.1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B242AD-9BA9-41E1-9A80-D9E6EE01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66BE4-D338-44A0-8300-686BC6A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72.6 / 72.4 / 72.1 / 70.8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271200-8794-45C4-919B-F23D8D7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E3D543-C475-47C7-BD03-DC7CFEDE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19.3B → 5.4B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3E9968-1E29-45C4-A560-A2FCEFB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ADB9B-B2D3-4A0B-BF63-F6623896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ResNet50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ADA003-1C79-442E-81A0-F16E9C04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02AEA9-DCDF-487A-9C5A-F3445420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4 / 3 / 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9DCA99-B82C-4A10-B78A-95B1FAB3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04BD38-4375-4DA8-9DDA-E24E9682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76.3 / 75.9 / 73.3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6FF070-572F-43C4-9DB5-AB7C9967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ABF813-FA64-4F5D-A0CF-13400040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76.1 / 75.8 / 73.2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A2B83-BB79-4CA9-AF35-BD2EDCFF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6D6B63-2394-4C8C-90A5-4D8C94F3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71.8B → 23.7B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06B87B-070E-4E30-9F16-FD61683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66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66B704-A139-4671-A850-753D6AC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Modified V1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C0319B-8445-4F88-9557-7B3D4D4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F5DAED-7138-4ADE-A88D-C3CCE82C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04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8 / 6 / 5 / 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F5539D-823E-419F-B846-FA9EE63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3E9C14-F764-4BEF-A543-FB63278D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04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72.6 / 72.4 / 72.2 / 70.5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24F35E-10F9-4208-B9D2-46B4C4AC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33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E4467A-DFB2-43F1-BDD8-E6B3E771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0425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72.3 / 72.3 / 72.0 / 70.4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229B61-EA82-4175-85E1-27186B46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1430F2-D9F2-413B-8394-1F2E059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36.4B → 9.7B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E88F64-9664-474C-B7C2-AA9D545B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D12CE7-3EBC-4F80-8181-E7379166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0B855F-4E12-46B0-948C-EF1B261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準確率：多數 bit-width 只比個別訓練模型低約 0.1%~0.3%，部分設定甚至略高。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E9CCBC-056A-4490-A96B-FAD081D0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49B686-C278-4A7C-B104-D5AA737B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效率：同一模型能在不同 BitOPs 預算下運作；4-bit/2-bit 提供更低計算量選項。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91E367-BF4B-4A3B-A9BC-8A56E2A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BD8319-62F5-4C49-9EBD-6B882FEE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4830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 b="0">
                <a:solidFill>
                  <a:srgbClr val="111827"/>
                </a:solidFill>
                <a:latin typeface="Noto Sans CJK TC"/>
                <a:ea typeface="Noto Sans CJK TC"/>
                <a:cs typeface="Noto Sans CJK TC"/>
              </a:rPr>
              <a:t>結論：adaptive bit-width 是 channel / depth / resolution 之外的另一個自適應模型自由度。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8A9BA9-56F0-4C0A-85AF-9EE4832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82C047-896B-45E6-A5B9-4638B96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43475"/>
            <a:ext cx="76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takeaway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一份權重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多個精度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48B000-5EED-40FD-9C02-149DBF3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Data summarized from Table 4 in Jin et al., AdaBits, CVPR 2020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FAB4CB-5867-483B-B566-E0087600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D43421-507D-49D7-BFC6-FC057030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67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558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2026-05-29T20:21:14.5280000Z</dcterms:created>
  <dcterms:modified xsi:type="dcterms:W3CDTF">2026-05-29T20:21:14.5280000Z</dcterms:modified>
</coreProperties>
</file>